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8"/>
  </p:notesMasterIdLst>
  <p:handoutMasterIdLst>
    <p:handoutMasterId r:id="rId29"/>
  </p:handoutMasterIdLst>
  <p:sldIdLst>
    <p:sldId id="798" r:id="rId2"/>
    <p:sldId id="800" r:id="rId3"/>
    <p:sldId id="801" r:id="rId4"/>
    <p:sldId id="806" r:id="rId5"/>
    <p:sldId id="802" r:id="rId6"/>
    <p:sldId id="803" r:id="rId7"/>
    <p:sldId id="809" r:id="rId8"/>
    <p:sldId id="818" r:id="rId9"/>
    <p:sldId id="831" r:id="rId10"/>
    <p:sldId id="832" r:id="rId11"/>
    <p:sldId id="819" r:id="rId12"/>
    <p:sldId id="820" r:id="rId13"/>
    <p:sldId id="830" r:id="rId14"/>
    <p:sldId id="824" r:id="rId15"/>
    <p:sldId id="825" r:id="rId16"/>
    <p:sldId id="826" r:id="rId17"/>
    <p:sldId id="834" r:id="rId18"/>
    <p:sldId id="827" r:id="rId19"/>
    <p:sldId id="835" r:id="rId20"/>
    <p:sldId id="828" r:id="rId21"/>
    <p:sldId id="833" r:id="rId22"/>
    <p:sldId id="829" r:id="rId23"/>
    <p:sldId id="836" r:id="rId24"/>
    <p:sldId id="816" r:id="rId25"/>
    <p:sldId id="817" r:id="rId26"/>
    <p:sldId id="787" r:id="rId2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155"/>
    <a:srgbClr val="FF00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27" autoAdjust="0"/>
    <p:restoredTop sz="95184" autoAdjust="0"/>
  </p:normalViewPr>
  <p:slideViewPr>
    <p:cSldViewPr>
      <p:cViewPr>
        <p:scale>
          <a:sx n="75" d="100"/>
          <a:sy n="75" d="100"/>
        </p:scale>
        <p:origin x="1930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843E06-C4B2-C46B-69D9-995A55BA50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D66656-BBFA-DE40-00FF-7F1D8484F6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519333-5610-4A2B-B30F-42E98BFC335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78F62-A278-509D-C069-134D017A6F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C9ED3-627A-71AD-07BF-6A8294ADD3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065A3-B796-4BCF-9794-0D877BB6E0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11684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39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DC5E23CA-EFAD-4A5F-8D7D-75EC6E20B7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30165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31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03EA1-54B3-73B1-5431-AA6B633B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11E39-D531-875B-8D76-BBD3A3701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E3BF4-53D7-2284-BD02-2405C2641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88B99C6-F45A-A32F-390F-8550242E909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5769F-C665-2027-365C-AEED231667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28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2C5F-51A1-E84A-5517-9BB65046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F30D4-425C-5060-59AF-D68286626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998BF-2E1B-2F3F-6BCF-044D51B87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DB979E4-54E1-2DFE-68C2-304D2603432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4A388-98DE-C5CC-124D-19569BDC6C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6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3D8E-54C3-AB87-30AD-F2A15E21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683C3-1B15-C98E-84BD-CD78030C4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0FDC1-E441-9EC4-93D9-B1CC9A68C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DB58FDC-507F-E365-8722-8AD997F5A63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239D6-4118-4C02-857D-FC6F4A09FD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51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C0BB-C38F-6F42-85AE-8F4AF20E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A0180-351C-5FA2-E66D-EFEF66C5C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3BD4B4-73E4-9BC4-E8CE-3A341E31D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CF5F1C-6158-4DCC-9401-8DAEF652B23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172A8-723A-375F-DE5D-D5EDA0DD00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39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F7E70-AD5A-E2B8-232B-72DDFD8F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A9E9E-22BB-5D06-03E3-9DE7D5B29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94C21-BB74-C3AF-8F85-EFB4442B4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AA0570A-DFF0-6B11-DB94-4273CA965BF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D75F4-AC34-0137-68E1-376CE75A5E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32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6FCD8-655C-8F5A-434D-8F49DBBF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158AC-FA3E-537D-B71A-FB2A967EF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ED500-5115-8C4D-2B70-F9F86D39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088738E-4B4E-50C7-B3D3-6CB8CFE0900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8E88F-2C00-A839-4126-2676713B83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49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AE866-254F-BE80-396B-672A5DDEF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BDA96-2165-0912-C0E1-C5F9CD92F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0B040-3B48-71A4-2313-5B8FFD951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CC811C-7357-AED9-9428-211F099D824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77FB9-C09F-C25D-71DC-B1E0965D6B2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1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E470-225D-E2F6-E8E0-135A3CE2B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4E7C9-28F8-9ADA-805B-D89403602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4B7EB-B2AE-329C-FF09-C1BCC6A3F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BFFB7B8-05F6-2D58-D748-17FA388D8E8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94E34-F6D3-0261-0237-8E6F18F9709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755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0BAD0-C619-909A-A57C-125989A2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8C9F8-7270-7F61-FE17-F03D2E907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15514-A372-7E80-5866-723FCB025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6D9CD7F-1ABC-80D9-3F9E-4C423E778CB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80641-ADA5-93DC-0CB7-8CF1ABDF22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81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D0FA-3B8D-5422-3145-E45CB472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E79EE-91CE-5107-4967-C4680467A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CBC73-8638-352E-7964-FA02D4EB0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3BD3F3E-52DD-F3DD-C9B7-DFF091E621C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C6A92-47A7-4A43-860F-4BB9342FAC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83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36E92-AA8F-E93F-C6BE-AD879CE2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E3731-9247-15DE-BBCD-1D728E688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10F22-2E38-609D-2F15-CF0EF9396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706D14-8720-F7A6-AFFD-BD67362058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DC1E4-365B-FD84-2B10-654C2F6EB4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922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A1704-ADFE-DA3B-260B-24EA1E237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0770D-08F7-B6F5-31A9-314B6F497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AE894-C362-79BD-3591-3868992A2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0281194-E5D4-F12E-24F7-3D8180C596E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FB6C8-75FA-70D4-A8C2-BC34CA6F28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65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2F5B-2057-7625-5684-096A1559D0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ECF249B-81EC-8044-E939-AC7A601250E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6506DB-6D2F-44A9-9E26-185BDBDFC253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D9A39-5C1A-4CAF-B953-34D4654857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3DD57-E376-4BC6-AB0C-F1DB219F300B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AE23E-90C3-4CB8-8C6E-E6BA23C892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C1AB3-55DA-47C1-814B-CFB64BD48B5E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1BE99A-DC53-4483-9D09-8E8D828BB0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34C32-7B7F-4F61-8625-6CA79E593D7E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27731-217C-45F5-BE6B-C0F33E5A78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1E34B-08F9-46E7-B297-59C2927C4B9F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4E087-D1F2-4248-8B1B-6D6F1ED7C4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007F1-E2F4-444C-B7E6-01B686C11619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C5765-67BA-4D12-8E8A-F88607D7DB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B54058-1989-45DE-9660-60F98D05BAF7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8175E-D304-4EEC-8CB8-4AF88DC31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2C667-8203-498B-9084-ECA75E0C8BE1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6843C-08F2-4237-9A90-2DA58485D4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12AF5-28E9-4570-AA54-93B973B58FD9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C1F29-FCE4-43AD-84D5-C7E8CD565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FF6E9-304B-422D-AA10-F0E68965C409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142F0-0E05-4CF5-8C90-61215702BF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F031C5-5BCA-4430-91F3-ABA7D195EE02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D1EA8-45BB-4734-8A7C-65D6228B87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E2FA9-7265-4A27-A51B-4BD5E3DF32DC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72E05-4A4F-41D4-9482-8518AB823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+mj-lt"/>
              </a:defRPr>
            </a:lvl1pPr>
          </a:lstStyle>
          <a:p>
            <a:pPr>
              <a:defRPr/>
            </a:pPr>
            <a:fld id="{47F200FA-790C-4085-9EEB-E18DFA4C3A99}" type="datetime1">
              <a:rPr lang="en-US" altLang="en-US" smtClean="0"/>
              <a:t>10/6/2026</a:t>
            </a:fld>
            <a:endParaRPr lang="en-US" altLang="en-US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+mj-lt"/>
              </a:defRPr>
            </a:lvl1pPr>
          </a:lstStyle>
          <a:p>
            <a:pPr>
              <a:defRPr/>
            </a:pPr>
            <a:r>
              <a:rPr lang="en-US" altLang="en-US"/>
              <a:t>Radio Propagation and Path Loss Models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721A3418-39D4-413F-84B1-615E9EA017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39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839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990C7-98DE-0570-62E1-779C410A1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3600" b="1" dirty="0">
                <a:solidFill>
                  <a:srgbClr val="0C4A6E"/>
                </a:solidFill>
                <a:latin typeface="Poppins"/>
              </a:rPr>
              <a:t>Comparative analysis between Alumina vs Zirconia Dielectric Resonator Antenna</a:t>
            </a:r>
            <a:br>
              <a:rPr lang="en-IN" sz="2000" b="1" dirty="0">
                <a:solidFill>
                  <a:srgbClr val="0C4A6E"/>
                </a:solidFill>
                <a:latin typeface="Poppins"/>
              </a:rPr>
            </a:br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F08CD-BF3E-D82F-8315-4FEF81B3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D9A39-5C1A-4CAF-B953-34D46548577A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CCA7C0-8272-A1D7-09B3-28AB1848E348}"/>
              </a:ext>
            </a:extLst>
          </p:cNvPr>
          <p:cNvSpPr txBox="1"/>
          <p:nvPr/>
        </p:nvSpPr>
        <p:spPr>
          <a:xfrm>
            <a:off x="2136912" y="4462272"/>
            <a:ext cx="5120640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  <a:tabLst>
                <a:tab pos="2286000" algn="l"/>
              </a:tabLst>
            </a:pPr>
            <a:r>
              <a:rPr sz="1600" i="0" u="none" dirty="0">
                <a:solidFill>
                  <a:srgbClr val="0F172A"/>
                </a:solidFill>
                <a:latin typeface="Arial"/>
              </a:rPr>
              <a:t>Adhil Anil Pillai</a:t>
            </a:r>
            <a:r>
              <a:rPr sz="1600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lang="en-IN" sz="1600" i="0" u="none" dirty="0">
                <a:solidFill>
                  <a:srgbClr val="334155"/>
                </a:solidFill>
                <a:latin typeface="Arial"/>
              </a:rPr>
              <a:t>	</a:t>
            </a:r>
            <a:r>
              <a:rPr sz="1600" i="0" u="none" dirty="0">
                <a:solidFill>
                  <a:srgbClr val="334155"/>
                </a:solidFill>
                <a:latin typeface="Arial"/>
              </a:rPr>
              <a:t> Om Prakash Shinde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C27BEB-852E-F13D-4F0E-2FA51CF2386B}"/>
              </a:ext>
            </a:extLst>
          </p:cNvPr>
          <p:cNvSpPr txBox="1"/>
          <p:nvPr/>
        </p:nvSpPr>
        <p:spPr>
          <a:xfrm>
            <a:off x="1908313" y="4133087"/>
            <a:ext cx="3503719" cy="208903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lang="en-IN" b="1" i="0" u="none" dirty="0">
                <a:solidFill>
                  <a:srgbClr val="0F172A"/>
                </a:solidFill>
                <a:latin typeface="Poppins"/>
              </a:rPr>
              <a:t>Name of Scholars</a:t>
            </a:r>
            <a:endParaRPr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2D0122-64CF-E8B2-5274-3E2C3463CA1E}"/>
              </a:ext>
            </a:extLst>
          </p:cNvPr>
          <p:cNvSpPr txBox="1"/>
          <p:nvPr/>
        </p:nvSpPr>
        <p:spPr>
          <a:xfrm>
            <a:off x="2136913" y="4718304"/>
            <a:ext cx="5120640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  <a:tabLst>
                <a:tab pos="2286000" algn="l"/>
              </a:tabLst>
            </a:pPr>
            <a:r>
              <a:rPr sz="1600" i="0" u="none" dirty="0">
                <a:solidFill>
                  <a:srgbClr val="0F172A"/>
                </a:solidFill>
                <a:latin typeface="Arial"/>
              </a:rPr>
              <a:t>Bagavath Kumar P.</a:t>
            </a:r>
            <a:r>
              <a:rPr sz="1600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lang="en-IN" sz="1600" i="0" u="none" dirty="0">
                <a:solidFill>
                  <a:srgbClr val="334155"/>
                </a:solidFill>
                <a:latin typeface="Arial"/>
              </a:rPr>
              <a:t>	</a:t>
            </a:r>
            <a:r>
              <a:rPr sz="1600" i="0" u="none" dirty="0">
                <a:solidFill>
                  <a:srgbClr val="334155"/>
                </a:solidFill>
                <a:latin typeface="Arial"/>
              </a:rPr>
              <a:t> Jyotilipsa Mishra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E1D4F6-DCFF-27F8-F915-FC7037D6A1F4}"/>
              </a:ext>
            </a:extLst>
          </p:cNvPr>
          <p:cNvSpPr txBox="1"/>
          <p:nvPr/>
        </p:nvSpPr>
        <p:spPr>
          <a:xfrm>
            <a:off x="1905000" y="5074920"/>
            <a:ext cx="1828800" cy="208903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lang="en-IN" b="1" i="0" u="none" dirty="0">
                <a:solidFill>
                  <a:srgbClr val="0F172A"/>
                </a:solidFill>
                <a:latin typeface="Poppins"/>
              </a:rPr>
              <a:t>UG</a:t>
            </a:r>
            <a:endParaRPr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BE171A-BB98-C445-651D-ED4FF8D1EE43}"/>
              </a:ext>
            </a:extLst>
          </p:cNvPr>
          <p:cNvSpPr txBox="1"/>
          <p:nvPr/>
        </p:nvSpPr>
        <p:spPr>
          <a:xfrm>
            <a:off x="2136912" y="5303520"/>
            <a:ext cx="5120640" cy="208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600" b="0" i="0" u="none" dirty="0">
                <a:solidFill>
                  <a:srgbClr val="334155"/>
                </a:solidFill>
                <a:latin typeface="Arial"/>
              </a:rPr>
              <a:t>Pillai College of Engineering (Autonomous)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B35D0B-1B01-2F2E-8B62-581DAABD52F9}"/>
              </a:ext>
            </a:extLst>
          </p:cNvPr>
          <p:cNvSpPr txBox="1"/>
          <p:nvPr/>
        </p:nvSpPr>
        <p:spPr>
          <a:xfrm>
            <a:off x="2136912" y="5596128"/>
            <a:ext cx="5120640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lang="en-IN" sz="1600" b="1" i="0" u="none" dirty="0">
                <a:solidFill>
                  <a:srgbClr val="0F172A"/>
                </a:solidFill>
                <a:latin typeface="Arial"/>
              </a:rPr>
              <a:t>Dr. </a:t>
            </a:r>
            <a:r>
              <a:rPr sz="1600" b="1" i="0" u="none" dirty="0">
                <a:solidFill>
                  <a:srgbClr val="0F172A"/>
                </a:solidFill>
                <a:latin typeface="Arial"/>
              </a:rPr>
              <a:t>Ameet Mehta</a:t>
            </a:r>
            <a:r>
              <a:rPr sz="1600" b="0" i="0" u="none" dirty="0">
                <a:solidFill>
                  <a:srgbClr val="334155"/>
                </a:solidFill>
                <a:latin typeface="Arial"/>
              </a:rPr>
              <a:t> (Faculty Research Guide)</a:t>
            </a:r>
          </a:p>
        </p:txBody>
      </p:sp>
    </p:spTree>
    <p:extLst>
      <p:ext uri="{BB962C8B-B14F-4D97-AF65-F5344CB8AC3E}">
        <p14:creationId xmlns:p14="http://schemas.microsoft.com/office/powerpoint/2010/main" val="77856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EB290-B117-CD75-CD3F-62BA8855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A3AD6-F0BE-79EA-BA6B-05991DFC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C52C7666-30C0-593E-F121-B5EADA01A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53" y="904055"/>
            <a:ext cx="4202628" cy="26713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A627CC-A699-D771-A56F-5B643A71D330}"/>
              </a:ext>
            </a:extLst>
          </p:cNvPr>
          <p:cNvSpPr txBox="1"/>
          <p:nvPr/>
        </p:nvSpPr>
        <p:spPr>
          <a:xfrm>
            <a:off x="664083" y="1012453"/>
            <a:ext cx="3990974" cy="446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700" b="1" i="0" u="none" dirty="0">
                <a:solidFill>
                  <a:srgbClr val="0F172A"/>
                </a:solidFill>
                <a:latin typeface="Poppins"/>
              </a:rPr>
              <a:t>Limitations of Conventional Microstrip Patches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DD6118-1457-A213-A5C5-372EF5C6E5F8}"/>
              </a:ext>
            </a:extLst>
          </p:cNvPr>
          <p:cNvSpPr txBox="1"/>
          <p:nvPr/>
        </p:nvSpPr>
        <p:spPr>
          <a:xfrm>
            <a:off x="630992" y="1677021"/>
            <a:ext cx="3914774" cy="1644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600" b="0" i="0" u="none" dirty="0">
                <a:solidFill>
                  <a:srgbClr val="334155"/>
                </a:solidFill>
                <a:latin typeface="Arial"/>
              </a:rPr>
              <a:t>Metallic microstrip antennas are widely deployed due to planar simplicity and low profile. </a:t>
            </a:r>
            <a:endParaRPr lang="en-IN" sz="1600" b="0" i="0" u="none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endParaRPr lang="en-IN" sz="16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sz="1600" b="0" i="0" u="none" dirty="0">
                <a:solidFill>
                  <a:srgbClr val="334155"/>
                </a:solidFill>
                <a:latin typeface="Arial"/>
              </a:rPr>
              <a:t>However, skin-depth conduction resistance (I²R ohmic dissipation) and dielectric surface-wave propagation severely degrade radiation efficiency.</a:t>
            </a:r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72016D38-701C-1AF1-7B35-B1B58B3A5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041" y="904055"/>
            <a:ext cx="4146971" cy="2667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F839B-A5E3-3684-7710-69EB11F70368}"/>
              </a:ext>
            </a:extLst>
          </p:cNvPr>
          <p:cNvSpPr txBox="1"/>
          <p:nvPr/>
        </p:nvSpPr>
        <p:spPr>
          <a:xfrm>
            <a:off x="4955630" y="1012453"/>
            <a:ext cx="3817308" cy="446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700" b="1" i="0" u="none" dirty="0">
                <a:solidFill>
                  <a:srgbClr val="0F172A"/>
                </a:solidFill>
                <a:latin typeface="Poppins"/>
              </a:rPr>
              <a:t>The Dielectric Resonator Antenna (DRA) Paradigm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A7A9D0-2ABB-3638-8D6E-9991A1FF1B7D}"/>
              </a:ext>
            </a:extLst>
          </p:cNvPr>
          <p:cNvSpPr txBox="1"/>
          <p:nvPr/>
        </p:nvSpPr>
        <p:spPr>
          <a:xfrm>
            <a:off x="4962526" y="1677021"/>
            <a:ext cx="3817308" cy="1439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lang="en-IN" sz="1600" dirty="0">
                <a:solidFill>
                  <a:srgbClr val="334155"/>
                </a:solidFill>
                <a:latin typeface="Arial"/>
              </a:rPr>
              <a:t>DRA (Dielectric Resonator Antenna) replaces metallic radiators with low-loss technical ceramic resonators, where radiation occurs via internal electromagnetic displacement currents rather than metallic conduction currents, minimizing ohmic losses.</a:t>
            </a:r>
          </a:p>
          <a:p>
            <a:pPr algn="just">
              <a:lnSpc>
                <a:spcPts val="1575"/>
              </a:lnSpc>
              <a:buNone/>
            </a:pPr>
            <a:endParaRPr lang="en-IN" sz="1600" dirty="0">
              <a:solidFill>
                <a:srgbClr val="334155"/>
              </a:solidFill>
              <a:latin typeface="Arial"/>
            </a:endParaRPr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023ADBD7-48B2-68B2-0915-892B10EA9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52" y="3691171"/>
            <a:ext cx="4195827" cy="239851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7E41385-649C-435A-8513-AE96ACBF3ACE}"/>
              </a:ext>
            </a:extLst>
          </p:cNvPr>
          <p:cNvSpPr txBox="1"/>
          <p:nvPr/>
        </p:nvSpPr>
        <p:spPr>
          <a:xfrm>
            <a:off x="605283" y="3806368"/>
            <a:ext cx="4089111" cy="446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700" b="1" i="0" u="none" dirty="0">
                <a:solidFill>
                  <a:srgbClr val="0F172A"/>
                </a:solidFill>
                <a:latin typeface="Poppins"/>
              </a:rPr>
              <a:t>Four Degrees of Freedom in DRA Engineering</a:t>
            </a:r>
            <a:endParaRPr lang="en-IN" sz="17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5DA7B4-A683-29DD-1441-D6BE990E800B}"/>
              </a:ext>
            </a:extLst>
          </p:cNvPr>
          <p:cNvSpPr txBox="1"/>
          <p:nvPr/>
        </p:nvSpPr>
        <p:spPr>
          <a:xfrm>
            <a:off x="605283" y="4160626"/>
            <a:ext cx="3879558" cy="5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68"/>
              </a:lnSpc>
            </a:pPr>
            <a:endParaRPr lang="en-IN" sz="1600" b="1" i="0" u="none" dirty="0">
              <a:solidFill>
                <a:srgbClr val="0F172A"/>
              </a:solidFill>
              <a:latin typeface="Arial"/>
            </a:endParaRPr>
          </a:p>
          <a:p>
            <a:pPr algn="just">
              <a:lnSpc>
                <a:spcPts val="1468"/>
              </a:lnSpc>
            </a:pPr>
            <a:r>
              <a:rPr sz="1600" b="1" i="0" u="none" dirty="0">
                <a:solidFill>
                  <a:srgbClr val="0F172A"/>
                </a:solidFill>
                <a:latin typeface="Arial"/>
              </a:rPr>
              <a:t>Dielectric Material:</a:t>
            </a:r>
            <a:r>
              <a:rPr sz="1600" b="0" i="0" u="none" dirty="0">
                <a:solidFill>
                  <a:srgbClr val="334155"/>
                </a:solidFill>
                <a:latin typeface="Arial"/>
              </a:rPr>
              <a:t> Permittivity (</a:t>
            </a:r>
            <a:r>
              <a:rPr sz="1600" b="0" i="0" u="none" dirty="0" err="1">
                <a:solidFill>
                  <a:srgbClr val="334155"/>
                </a:solidFill>
                <a:latin typeface="Arial"/>
              </a:rPr>
              <a:t>εr</a:t>
            </a:r>
            <a:r>
              <a:rPr sz="1600" b="0" i="0" u="none" dirty="0">
                <a:solidFill>
                  <a:srgbClr val="334155"/>
                </a:solidFill>
                <a:latin typeface="Arial"/>
              </a:rPr>
              <a:t>) dictates size scaling &amp; radiation Q-factor.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F94F8D-26CE-81DF-BFCB-70B081655D06}"/>
              </a:ext>
            </a:extLst>
          </p:cNvPr>
          <p:cNvSpPr txBox="1"/>
          <p:nvPr/>
        </p:nvSpPr>
        <p:spPr>
          <a:xfrm>
            <a:off x="605283" y="4679266"/>
            <a:ext cx="3879558" cy="5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68"/>
              </a:lnSpc>
            </a:pPr>
            <a:endParaRPr lang="en-IN" sz="1600" b="1" i="0" u="none" dirty="0">
              <a:solidFill>
                <a:srgbClr val="0F172A"/>
              </a:solidFill>
              <a:latin typeface="Arial"/>
            </a:endParaRPr>
          </a:p>
          <a:p>
            <a:pPr algn="just">
              <a:lnSpc>
                <a:spcPts val="1468"/>
              </a:lnSpc>
            </a:pPr>
            <a:r>
              <a:rPr sz="1600" b="1" i="0" u="none" dirty="0">
                <a:solidFill>
                  <a:srgbClr val="0F172A"/>
                </a:solidFill>
                <a:latin typeface="Arial"/>
              </a:rPr>
              <a:t>Resonator Geometry:</a:t>
            </a:r>
            <a:r>
              <a:rPr sz="1600" b="0" i="0" u="none" dirty="0">
                <a:solidFill>
                  <a:srgbClr val="334155"/>
                </a:solidFill>
                <a:latin typeface="Arial"/>
              </a:rPr>
              <a:t> Rectangular, cylindrical, or hollow-core shapes.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67C769-0F0B-BC29-631B-6B533B8472FF}"/>
              </a:ext>
            </a:extLst>
          </p:cNvPr>
          <p:cNvSpPr txBox="1"/>
          <p:nvPr/>
        </p:nvSpPr>
        <p:spPr>
          <a:xfrm>
            <a:off x="635475" y="5257282"/>
            <a:ext cx="3879558" cy="583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68"/>
              </a:lnSpc>
            </a:pPr>
            <a:endParaRPr lang="en-IN" sz="1600" b="1" i="0" u="none" dirty="0">
              <a:solidFill>
                <a:srgbClr val="0F172A"/>
              </a:solidFill>
              <a:latin typeface="Arial"/>
            </a:endParaRPr>
          </a:p>
          <a:p>
            <a:pPr algn="just">
              <a:lnSpc>
                <a:spcPts val="1468"/>
              </a:lnSpc>
            </a:pPr>
            <a:r>
              <a:rPr sz="1600" b="1" i="0" u="none" dirty="0">
                <a:solidFill>
                  <a:srgbClr val="0F172A"/>
                </a:solidFill>
                <a:latin typeface="Arial"/>
              </a:rPr>
              <a:t>Feeding Mechanism:</a:t>
            </a:r>
            <a:r>
              <a:rPr sz="1600" b="0" i="0" u="none" dirty="0">
                <a:solidFill>
                  <a:srgbClr val="334155"/>
                </a:solidFill>
                <a:latin typeface="Arial"/>
              </a:rPr>
              <a:t> Microstrip line, coaxial probe, or aperture slot coupling.</a:t>
            </a:r>
          </a:p>
        </p:txBody>
      </p:sp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B9F9AB69-256C-1147-053E-5DA281BCB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43" y="3703232"/>
            <a:ext cx="4112198" cy="240748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2771AF2-DAAD-D247-2244-8ABC7B553E79}"/>
              </a:ext>
            </a:extLst>
          </p:cNvPr>
          <p:cNvSpPr txBox="1"/>
          <p:nvPr/>
        </p:nvSpPr>
        <p:spPr>
          <a:xfrm>
            <a:off x="4967510" y="3842135"/>
            <a:ext cx="3853751" cy="2281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21"/>
              </a:lnSpc>
            </a:pPr>
            <a:r>
              <a:rPr lang="en-IN" sz="1700" b="1" dirty="0">
                <a:solidFill>
                  <a:srgbClr val="0F172A"/>
                </a:solidFill>
                <a:latin typeface="Poppins"/>
              </a:rPr>
              <a:t>Objective</a:t>
            </a:r>
            <a:endParaRPr sz="1700" b="1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6016DB-2EDE-A53C-94E7-0942E89A6755}"/>
              </a:ext>
            </a:extLst>
          </p:cNvPr>
          <p:cNvSpPr txBox="1"/>
          <p:nvPr/>
        </p:nvSpPr>
        <p:spPr>
          <a:xfrm>
            <a:off x="5029200" y="4970499"/>
            <a:ext cx="3238913" cy="61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lang="en-IN" sz="1600" dirty="0">
                <a:solidFill>
                  <a:srgbClr val="334155"/>
                </a:solidFill>
                <a:latin typeface="Arial"/>
              </a:rPr>
              <a:t>Compare Alumina and Zirconia cylindrical DRAs for miniaturization and </a:t>
            </a:r>
            <a:r>
              <a:rPr lang="en-IN" sz="1600" dirty="0" err="1">
                <a:solidFill>
                  <a:srgbClr val="334155"/>
                </a:solidFill>
                <a:latin typeface="Arial"/>
              </a:rPr>
              <a:t>performance</a:t>
            </a:r>
            <a:r>
              <a:rPr lang="en-IN" sz="1600" dirty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B2E6D2-C99B-61C6-4C97-4B8CEDCA9D13}"/>
              </a:ext>
            </a:extLst>
          </p:cNvPr>
          <p:cNvSpPr txBox="1"/>
          <p:nvPr/>
        </p:nvSpPr>
        <p:spPr>
          <a:xfrm>
            <a:off x="566420" y="353039"/>
            <a:ext cx="817727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oppins"/>
              </a:rPr>
              <a:t>INTRODUCTION &amp;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2C489-1604-60BB-3C1B-A01B3B829D8A}"/>
              </a:ext>
            </a:extLst>
          </p:cNvPr>
          <p:cNvSpPr txBox="1"/>
          <p:nvPr/>
        </p:nvSpPr>
        <p:spPr>
          <a:xfrm>
            <a:off x="4955630" y="4309311"/>
            <a:ext cx="3693733" cy="505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575"/>
              </a:lnSpc>
            </a:pPr>
            <a:r>
              <a:rPr lang="en-US" sz="1600" dirty="0">
                <a:solidFill>
                  <a:srgbClr val="334155"/>
                </a:solidFill>
                <a:latin typeface="Arial"/>
              </a:rPr>
              <a:t>Analysis of conventional microstrip patch at same </a:t>
            </a:r>
            <a:r>
              <a:rPr lang="en-US" sz="1600" dirty="0" err="1">
                <a:solidFill>
                  <a:srgbClr val="334155"/>
                </a:solidFill>
                <a:latin typeface="Arial"/>
              </a:rPr>
              <a:t>resonanant</a:t>
            </a:r>
            <a:r>
              <a:rPr lang="en-US" sz="1600" dirty="0">
                <a:solidFill>
                  <a:srgbClr val="334155"/>
                </a:solidFill>
                <a:latin typeface="Arial"/>
              </a:rPr>
              <a:t> frequency </a:t>
            </a:r>
            <a:endParaRPr lang="en-IN" sz="1600" dirty="0">
              <a:solidFill>
                <a:srgbClr val="33415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499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EE5A-8C99-5C13-0EE7-A23EC241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59114-4182-17D9-CA13-49D05A5D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027C2-27A9-B24A-04B6-D25F508F29E9}"/>
              </a:ext>
            </a:extLst>
          </p:cNvPr>
          <p:cNvSpPr txBox="1"/>
          <p:nvPr/>
        </p:nvSpPr>
        <p:spPr>
          <a:xfrm>
            <a:off x="537845" y="387936"/>
            <a:ext cx="80727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u="none" dirty="0">
                <a:solidFill>
                  <a:srgbClr val="0F172A"/>
                </a:solidFill>
                <a:latin typeface="Poppins"/>
              </a:rPr>
              <a:t>LITERATURE REVIEW: FOUNDATIONS (PAPERS 1–4)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D90CB-4A18-224A-E442-6E1B3636E4E2}"/>
              </a:ext>
            </a:extLst>
          </p:cNvPr>
          <p:cNvSpPr txBox="1"/>
          <p:nvPr/>
        </p:nvSpPr>
        <p:spPr>
          <a:xfrm>
            <a:off x="564287" y="1163779"/>
            <a:ext cx="410083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Foundations &amp; Feeding Techniques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DD336-14EE-2712-BD19-521759797457}"/>
              </a:ext>
            </a:extLst>
          </p:cNvPr>
          <p:cNvSpPr txBox="1"/>
          <p:nvPr/>
        </p:nvSpPr>
        <p:spPr>
          <a:xfrm>
            <a:off x="554513" y="1434727"/>
            <a:ext cx="3840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Scope: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Comprehensive survey establishing analytical modal theory, feed-coupling mechanisms, and dielectric miniaturization approaches.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Formalized dielectric waveguide boundary conditions, higher-order mode excitation, and circularly polarized MIMO arrays.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Proved that slot-coupled feeding provides superior back-isolation and magnetic dipole excitation purity.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C7592B8-E765-169D-BBDA-225D0C46F296}"/>
              </a:ext>
            </a:extLst>
          </p:cNvPr>
          <p:cNvCxnSpPr>
            <a:cxnSpLocks/>
          </p:cNvCxnSpPr>
          <p:nvPr/>
        </p:nvCxnSpPr>
        <p:spPr>
          <a:xfrm>
            <a:off x="4539830" y="825685"/>
            <a:ext cx="0" cy="5185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9C1F0F1-F6CB-49C0-42AB-88F8FF825B31}"/>
              </a:ext>
            </a:extLst>
          </p:cNvPr>
          <p:cNvCxnSpPr/>
          <p:nvPr/>
        </p:nvCxnSpPr>
        <p:spPr>
          <a:xfrm>
            <a:off x="521014" y="3581400"/>
            <a:ext cx="80727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E4CF81C-23F7-E4F7-F595-7F30671EAB97}"/>
              </a:ext>
            </a:extLst>
          </p:cNvPr>
          <p:cNvSpPr txBox="1"/>
          <p:nvPr/>
        </p:nvSpPr>
        <p:spPr>
          <a:xfrm>
            <a:off x="550577" y="4019778"/>
            <a:ext cx="386715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Rectangular DRA for 5G Frequency Bands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68F769-AA64-097D-8B10-124AD68F0C05}"/>
              </a:ext>
            </a:extLst>
          </p:cNvPr>
          <p:cNvSpPr txBox="1"/>
          <p:nvPr/>
        </p:nvSpPr>
        <p:spPr>
          <a:xfrm>
            <a:off x="541193" y="4288505"/>
            <a:ext cx="3840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Scope: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Full-wave 3D HFSS modeling of rectangular ceramic blocks for sub-6 GHz 5G spectrum.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Validated that simple orthogonal geometries produce highly predictable resonant modes and ease fabrication tolerances.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Confirmed rectangular profiles suffer from limited bandwidth unless assisted by modified feeding or geometric perturbation.</a:t>
            </a:r>
          </a:p>
        </p:txBody>
      </p:sp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1E2C691B-CF92-5D88-9251-18D441430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87" y="3706158"/>
            <a:ext cx="1814512" cy="209550"/>
          </a:xfrm>
          <a:prstGeom prst="rect">
            <a:avLst/>
          </a:prstGeom>
        </p:spPr>
      </p:pic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0C23A501-39AC-4198-057F-382B0C968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" y="836921"/>
            <a:ext cx="2100262" cy="20955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29BE4482-FF1E-5831-7E18-B59CA74344A5}"/>
              </a:ext>
            </a:extLst>
          </p:cNvPr>
          <p:cNvSpPr txBox="1"/>
          <p:nvPr/>
        </p:nvSpPr>
        <p:spPr>
          <a:xfrm>
            <a:off x="4655343" y="1192705"/>
            <a:ext cx="4578821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Dielectric Constant &amp; Size-Bandwidth Trade-Off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C36F3C-F9D5-E2FF-7EF1-6D54537C6C34}"/>
              </a:ext>
            </a:extLst>
          </p:cNvPr>
          <p:cNvSpPr txBox="1"/>
          <p:nvPr/>
        </p:nvSpPr>
        <p:spPr>
          <a:xfrm>
            <a:off x="4655343" y="1483933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Scope: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Systematic empirical investigation on cylindrical DRAs across varying dielectric constants.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Demonstrated that higher permittivity (</a:t>
            </a:r>
            <a:r>
              <a:rPr sz="1200" b="0" i="0" u="none" dirty="0" err="1">
                <a:solidFill>
                  <a:srgbClr val="334155"/>
                </a:solidFill>
                <a:latin typeface="Arial"/>
              </a:rPr>
              <a:t>εr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) achieves significant</a:t>
            </a:r>
            <a:r>
              <a:rPr lang="en-IN" sz="1200" b="0" i="0" u="none" dirty="0" err="1">
                <a:solidFill>
                  <a:srgbClr val="334155"/>
                </a:solidFill>
                <a:latin typeface="Arial"/>
              </a:rPr>
              <a:t>ly</a:t>
            </a:r>
            <a:r>
              <a:rPr lang="en-IN" sz="1200" b="0" i="0" u="none" dirty="0">
                <a:solidFill>
                  <a:srgbClr val="334155"/>
                </a:solidFill>
                <a:latin typeface="Arial"/>
              </a:rPr>
              <a:t> better directivity but decreases the bandwidth </a:t>
            </a:r>
            <a:endParaRPr sz="1300" b="0" i="0" u="none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Establishes the foundational trade-off: high permittivity reduces antenna dimensions but limits impedance bandwidth.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5FC6A7-10DF-2CA6-64F8-82FA847B6BA0}"/>
              </a:ext>
            </a:extLst>
          </p:cNvPr>
          <p:cNvSpPr txBox="1"/>
          <p:nvPr/>
        </p:nvSpPr>
        <p:spPr>
          <a:xfrm>
            <a:off x="4710749" y="4011066"/>
            <a:ext cx="3595052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Perforated Geometry Optimization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93D88A-CCDD-6FB9-D7A4-C24412EAEFB5}"/>
              </a:ext>
            </a:extLst>
          </p:cNvPr>
          <p:cNvSpPr txBox="1"/>
          <p:nvPr/>
        </p:nvSpPr>
        <p:spPr>
          <a:xfrm>
            <a:off x="4726275" y="4269891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Scope: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Introduced periodic microscopic perforations into dielectric resonator volumes.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Synthesized effective permittivity gradients, lowering loaded Q and exciting higher-order modes without physical enlargement.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sz="1200" b="1" i="0" u="none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sz="1200" b="0" i="0" u="none" dirty="0">
                <a:solidFill>
                  <a:srgbClr val="334155"/>
                </a:solidFill>
                <a:latin typeface="Arial"/>
              </a:rPr>
              <a:t> Structural modifications successfully mitigate the size-bandwidth penalty, inspiring non-uniform geometry designs.</a:t>
            </a:r>
          </a:p>
        </p:txBody>
      </p:sp>
      <p:pic>
        <p:nvPicPr>
          <p:cNvPr id="83" name="Picture 82" descr="image.png">
            <a:extLst>
              <a:ext uri="{FF2B5EF4-FFF2-40B4-BE49-F238E27FC236}">
                <a16:creationId xmlns:a16="http://schemas.microsoft.com/office/drawing/2014/main" id="{16FB8C5C-4B3C-25E9-9BAA-98CEEE285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871" y="833950"/>
            <a:ext cx="1743075" cy="209550"/>
          </a:xfrm>
          <a:prstGeom prst="rect">
            <a:avLst/>
          </a:prstGeom>
        </p:spPr>
      </p:pic>
      <p:pic>
        <p:nvPicPr>
          <p:cNvPr id="85" name="Picture 84" descr="image.png">
            <a:extLst>
              <a:ext uri="{FF2B5EF4-FFF2-40B4-BE49-F238E27FC236}">
                <a16:creationId xmlns:a16="http://schemas.microsoft.com/office/drawing/2014/main" id="{4840C59F-420F-C185-F318-522A910D7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748" y="3704495"/>
            <a:ext cx="1671637" cy="20955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2B481CEA-78D8-11FC-6473-F761AF9FCEBA}"/>
              </a:ext>
            </a:extLst>
          </p:cNvPr>
          <p:cNvSpPr txBox="1"/>
          <p:nvPr/>
        </p:nvSpPr>
        <p:spPr>
          <a:xfrm>
            <a:off x="4726275" y="6206992"/>
            <a:ext cx="41004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JetBrains Mono"/>
              </a:rPr>
              <a:t>Foundational Theoretical &amp; Geometrical Evolution in Microwave Ceramic Engineering</a:t>
            </a:r>
          </a:p>
        </p:txBody>
      </p:sp>
    </p:spTree>
    <p:extLst>
      <p:ext uri="{BB962C8B-B14F-4D97-AF65-F5344CB8AC3E}">
        <p14:creationId xmlns:p14="http://schemas.microsoft.com/office/powerpoint/2010/main" val="3077647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829A2-D3C4-2A41-0D0A-15108DBEF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677AD-2FFB-FDB1-7484-EB057106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BA5BE-200F-655D-B0EB-D1E5D798E617}"/>
              </a:ext>
            </a:extLst>
          </p:cNvPr>
          <p:cNvSpPr txBox="1"/>
          <p:nvPr/>
        </p:nvSpPr>
        <p:spPr>
          <a:xfrm>
            <a:off x="537845" y="387936"/>
            <a:ext cx="807275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u="none" dirty="0">
                <a:solidFill>
                  <a:srgbClr val="0F172A"/>
                </a:solidFill>
                <a:latin typeface="Poppins"/>
              </a:rPr>
              <a:t>LITERATURE REVIEW: FOUNDATIONS (PAPERS 1–4)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DD9B1-91B8-4D2F-C8B7-A471AD115615}"/>
              </a:ext>
            </a:extLst>
          </p:cNvPr>
          <p:cNvSpPr txBox="1"/>
          <p:nvPr/>
        </p:nvSpPr>
        <p:spPr>
          <a:xfrm>
            <a:off x="537845" y="1154968"/>
            <a:ext cx="410083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21"/>
              </a:lnSpc>
            </a:pPr>
            <a:r>
              <a:rPr lang="en-IN" sz="1400" b="1" dirty="0">
                <a:solidFill>
                  <a:srgbClr val="0F172A"/>
                </a:solidFill>
                <a:latin typeface="Poppins"/>
              </a:rPr>
              <a:t>Hollow Core Resonator Topologies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E0D5F-9F1B-30F4-99CF-96642ADE7FFA}"/>
              </a:ext>
            </a:extLst>
          </p:cNvPr>
          <p:cNvSpPr txBox="1"/>
          <p:nvPr/>
        </p:nvSpPr>
        <p:spPr>
          <a:xfrm>
            <a:off x="518163" y="1491308"/>
            <a:ext cx="3840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Scope: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Investigated selective material evacuation from the central core of cylindrical ceramic DRAs.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Reduced internal stored energy concentration, expanding bandwidth, and boosting  efficiency.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Demonstrated that modifying internal field volume relieves dielectric impedance constraints.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543676-6840-B955-6CEE-0F79AFF135DD}"/>
              </a:ext>
            </a:extLst>
          </p:cNvPr>
          <p:cNvCxnSpPr>
            <a:cxnSpLocks/>
          </p:cNvCxnSpPr>
          <p:nvPr/>
        </p:nvCxnSpPr>
        <p:spPr>
          <a:xfrm>
            <a:off x="4539830" y="825685"/>
            <a:ext cx="0" cy="5185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812501-DAC5-E1BD-504A-65D1A979C561}"/>
              </a:ext>
            </a:extLst>
          </p:cNvPr>
          <p:cNvCxnSpPr/>
          <p:nvPr/>
        </p:nvCxnSpPr>
        <p:spPr>
          <a:xfrm>
            <a:off x="518163" y="3505200"/>
            <a:ext cx="80727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A419F78-9F7B-9A34-C72B-307E7518836E}"/>
              </a:ext>
            </a:extLst>
          </p:cNvPr>
          <p:cNvSpPr txBox="1"/>
          <p:nvPr/>
        </p:nvSpPr>
        <p:spPr>
          <a:xfrm>
            <a:off x="537845" y="3985078"/>
            <a:ext cx="386715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21"/>
              </a:lnSpc>
            </a:pPr>
            <a:r>
              <a:rPr lang="en-IN" sz="1400" b="1" dirty="0">
                <a:solidFill>
                  <a:srgbClr val="0F172A"/>
                </a:solidFill>
                <a:latin typeface="Poppins"/>
              </a:rPr>
              <a:t>5G/6G Phased Arrays &amp; LTCC Integration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384261-7E0D-750D-4576-1330566F314D}"/>
              </a:ext>
            </a:extLst>
          </p:cNvPr>
          <p:cNvSpPr txBox="1"/>
          <p:nvPr/>
        </p:nvSpPr>
        <p:spPr>
          <a:xfrm>
            <a:off x="541606" y="4254657"/>
            <a:ext cx="38404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Scope: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State-of-the-art review on mmWave DRA arrays and Low-Temperature Co-fired Ceramic (LTCC) system-on-package front-ends.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Characterized beam-steering capabilities, mutual coupling suppression, and integrated feeding networks.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Marks the research evolution from isolated single-element radiators toward integrated multi-antenna arrays.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4DE167-DC8D-051E-4AEA-B5C99A97B6FB}"/>
              </a:ext>
            </a:extLst>
          </p:cNvPr>
          <p:cNvSpPr txBox="1"/>
          <p:nvPr/>
        </p:nvSpPr>
        <p:spPr>
          <a:xfrm>
            <a:off x="4664871" y="1158686"/>
            <a:ext cx="4578821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21"/>
              </a:lnSpc>
            </a:pPr>
            <a:r>
              <a:rPr lang="en-IN" sz="1400" b="1" dirty="0">
                <a:solidFill>
                  <a:srgbClr val="0F172A"/>
                </a:solidFill>
                <a:latin typeface="Poppins"/>
              </a:rPr>
              <a:t>Dielectric Ring Loading &amp; Pattern Symmetry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D3253C-4F91-1E27-BFF3-3B25BA00B10D}"/>
              </a:ext>
            </a:extLst>
          </p:cNvPr>
          <p:cNvSpPr txBox="1"/>
          <p:nvPr/>
        </p:nvSpPr>
        <p:spPr>
          <a:xfrm>
            <a:off x="4638383" y="143826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Demonstrated that modifying internal field volume relieves dielectric impedance constraints.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Significantly enhanced broadside boresight gain and radiation symmetry while suppressing cross-polarization levels.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Parasitic dielectric boundaries guide radiation lobes, though introducing structural multi-component assembly challenges.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B18E0C-9538-7D66-C0F8-6FA031F5E2C3}"/>
              </a:ext>
            </a:extLst>
          </p:cNvPr>
          <p:cNvSpPr txBox="1"/>
          <p:nvPr/>
        </p:nvSpPr>
        <p:spPr>
          <a:xfrm>
            <a:off x="4698780" y="3966283"/>
            <a:ext cx="4260055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21"/>
              </a:lnSpc>
            </a:pPr>
            <a:r>
              <a:rPr lang="en-IN" sz="1400" b="1" dirty="0">
                <a:solidFill>
                  <a:srgbClr val="0F172A"/>
                </a:solidFill>
                <a:latin typeface="Poppins"/>
              </a:rPr>
              <a:t>Machine-Learning-Assisted DRA Optimization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389DE6-52AE-010D-5286-9B8BFBD464DA}"/>
              </a:ext>
            </a:extLst>
          </p:cNvPr>
          <p:cNvSpPr txBox="1"/>
          <p:nvPr/>
        </p:nvSpPr>
        <p:spPr>
          <a:xfrm>
            <a:off x="4726275" y="4235028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Scope: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Implemented Artificial Neural Networks (ANN), Random Forest, and XGBoost machine-learning surrogate models.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Core Contribution: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Predicted resonance frequencies and S-parameter dips with &gt;97% accuracy, bypassing computationally heavy 3D EM full-wave sweeps.</a:t>
            </a:r>
          </a:p>
          <a:p>
            <a:pPr algn="just">
              <a:lnSpc>
                <a:spcPts val="1400"/>
              </a:lnSpc>
              <a:spcBef>
                <a:spcPts val="500"/>
              </a:spcBef>
            </a:pPr>
            <a:r>
              <a:rPr lang="en-IN" sz="1200" b="1" dirty="0">
                <a:solidFill>
                  <a:srgbClr val="334155"/>
                </a:solidFill>
                <a:latin typeface="Arial"/>
              </a:rPr>
              <a:t>Research Takeaway:</a:t>
            </a:r>
            <a:r>
              <a:rPr lang="en-IN" sz="1200" dirty="0">
                <a:solidFill>
                  <a:srgbClr val="334155"/>
                </a:solidFill>
                <a:latin typeface="Arial"/>
              </a:rPr>
              <a:t> Validated AI-assisted predictive modelling as the future methodology for rapid dimensional synthesis.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B9F4CD4C-6944-D4B2-6F67-D222CC6CB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87" y="833950"/>
            <a:ext cx="1671637" cy="209550"/>
          </a:xfrm>
          <a:prstGeom prst="rect">
            <a:avLst/>
          </a:prstGeom>
        </p:spPr>
      </p:pic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6B9F4F42-7765-D11D-AB57-FDF38E14B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71" y="826038"/>
            <a:ext cx="1957387" cy="20955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F5784DAA-E208-D259-78F8-371DA5232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45" y="3656412"/>
            <a:ext cx="1814512" cy="20955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DF0EE3CC-CA66-A7E3-6BA4-EAC4516E8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748" y="3649048"/>
            <a:ext cx="217170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9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4352E-3EE7-4A5C-48E2-B86611CB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A590C-60BA-D4D0-6AD4-F4B7A12A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CF19E1-1618-C254-FEC9-DE7F9F5CACCF}"/>
              </a:ext>
            </a:extLst>
          </p:cNvPr>
          <p:cNvSpPr txBox="1"/>
          <p:nvPr/>
        </p:nvSpPr>
        <p:spPr>
          <a:xfrm>
            <a:off x="566420" y="426423"/>
            <a:ext cx="69773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u="none" dirty="0">
                <a:solidFill>
                  <a:srgbClr val="0F172A"/>
                </a:solidFill>
                <a:latin typeface="Poppins"/>
              </a:rPr>
              <a:t>RESEARCH GAP &amp; INVESTIGATION METHODOLOGY</a:t>
            </a:r>
          </a:p>
        </p:txBody>
      </p:sp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148D3C69-B2BF-DFCC-0C00-D5B310FFD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35" y="886943"/>
            <a:ext cx="3727400" cy="17145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F8AA386-C565-A579-82E9-C99F9F55A8BF}"/>
              </a:ext>
            </a:extLst>
          </p:cNvPr>
          <p:cNvSpPr txBox="1"/>
          <p:nvPr/>
        </p:nvSpPr>
        <p:spPr>
          <a:xfrm>
            <a:off x="735303" y="1006781"/>
            <a:ext cx="3503719" cy="21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1. Isolated Parameter Sweeps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71187B-A427-1022-DFEB-FCDED5397D9A}"/>
              </a:ext>
            </a:extLst>
          </p:cNvPr>
          <p:cNvSpPr txBox="1"/>
          <p:nvPr/>
        </p:nvSpPr>
        <p:spPr>
          <a:xfrm>
            <a:off x="603798" y="1269498"/>
            <a:ext cx="3372375" cy="12237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200" b="0" i="0" u="none" dirty="0">
                <a:solidFill>
                  <a:srgbClr val="334155"/>
                </a:solidFill>
                <a:latin typeface="Arial"/>
              </a:rPr>
              <a:t>Prior literature predominantly isolates single variables (e.g., shape tuning alone or material substitution alone). Holistic co-evaluation of radiating mechanisms, permittivity scaling, and multi-mode excitation under identical bounds is rarely performed.</a:t>
            </a:r>
          </a:p>
        </p:txBody>
      </p:sp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3D065F9D-D9C0-548E-D128-592615937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84" y="2636089"/>
            <a:ext cx="3727400" cy="17145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723A07B-A923-15D1-F046-81F2C24D0ADE}"/>
              </a:ext>
            </a:extLst>
          </p:cNvPr>
          <p:cNvSpPr txBox="1"/>
          <p:nvPr/>
        </p:nvSpPr>
        <p:spPr>
          <a:xfrm>
            <a:off x="770803" y="2807404"/>
            <a:ext cx="3503719" cy="21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2. Size-Bandwidth Bottleneck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B82BEE-B56A-920E-377C-9E96A5A3741D}"/>
              </a:ext>
            </a:extLst>
          </p:cNvPr>
          <p:cNvSpPr txBox="1"/>
          <p:nvPr/>
        </p:nvSpPr>
        <p:spPr>
          <a:xfrm>
            <a:off x="603947" y="3108960"/>
            <a:ext cx="3336875" cy="1018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200" b="0" i="0" u="none" dirty="0">
                <a:solidFill>
                  <a:srgbClr val="334155"/>
                </a:solidFill>
                <a:latin typeface="Arial"/>
              </a:rPr>
              <a:t>High-permittivity materials provide dramatic volumetric compression but invariably restrict impedance bandwidth. Existing solutions rely on complex internal hollows or fragile perforations that drastically increase manufacturing costs.</a:t>
            </a:r>
          </a:p>
        </p:txBody>
      </p:sp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1091B190-FCCB-D46D-1261-DE607C2EC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35" y="4386523"/>
            <a:ext cx="3727549" cy="17145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89143BBB-9113-3553-C99B-2F92DF9C11A5}"/>
              </a:ext>
            </a:extLst>
          </p:cNvPr>
          <p:cNvSpPr txBox="1"/>
          <p:nvPr/>
        </p:nvSpPr>
        <p:spPr>
          <a:xfrm>
            <a:off x="756523" y="4526280"/>
            <a:ext cx="3503875" cy="21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3. Sub-6 GHz Ceramic Scarcity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7CDF62-8881-E084-F256-67A5C8DF6683}"/>
              </a:ext>
            </a:extLst>
          </p:cNvPr>
          <p:cNvSpPr txBox="1"/>
          <p:nvPr/>
        </p:nvSpPr>
        <p:spPr>
          <a:xfrm>
            <a:off x="603798" y="4818888"/>
            <a:ext cx="3337024" cy="12237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200" b="0" i="0" u="none" dirty="0">
                <a:solidFill>
                  <a:srgbClr val="334155"/>
                </a:solidFill>
                <a:latin typeface="Arial"/>
              </a:rPr>
              <a:t>Current academic publications heavily concentrate on mmWave 5G/6G bands (&gt;28 GHz), creating a clear shortage of compact ceramic antenna designs optimized for the widely utilized sub-10 GHz and 2.4 GHz ISM bands.</a:t>
            </a:r>
          </a:p>
        </p:txBody>
      </p:sp>
      <p:pic>
        <p:nvPicPr>
          <p:cNvPr id="86" name="Picture 85" descr="image.png">
            <a:extLst>
              <a:ext uri="{FF2B5EF4-FFF2-40B4-BE49-F238E27FC236}">
                <a16:creationId xmlns:a16="http://schemas.microsoft.com/office/drawing/2014/main" id="{BD6FB06B-4CE6-482F-5A49-14DEFA20A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703" y="889112"/>
            <a:ext cx="3971164" cy="1712331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18F19F73-9474-8B3F-F5D9-3E50DA253A5B}"/>
              </a:ext>
            </a:extLst>
          </p:cNvPr>
          <p:cNvSpPr txBox="1"/>
          <p:nvPr/>
        </p:nvSpPr>
        <p:spPr>
          <a:xfrm>
            <a:off x="4693993" y="1004143"/>
            <a:ext cx="3718413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Stage 1: Metallic</a:t>
            </a:r>
            <a:r>
              <a:rPr lang="en-IN" sz="1400" b="1" i="0" u="none" dirty="0">
                <a:solidFill>
                  <a:srgbClr val="0F172A"/>
                </a:solidFill>
                <a:latin typeface="Poppins"/>
              </a:rPr>
              <a:t> Circular Patch MSA Analysis</a:t>
            </a:r>
            <a:endParaRPr sz="14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A45BE44-322D-8491-83D4-C4C11AF28EE5}"/>
              </a:ext>
            </a:extLst>
          </p:cNvPr>
          <p:cNvSpPr txBox="1"/>
          <p:nvPr/>
        </p:nvSpPr>
        <p:spPr>
          <a:xfrm>
            <a:off x="4691512" y="1469513"/>
            <a:ext cx="3541345" cy="1012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300" b="1" i="0" u="none" dirty="0">
                <a:solidFill>
                  <a:srgbClr val="334155"/>
                </a:solidFill>
                <a:latin typeface="Arial"/>
              </a:rPr>
              <a:t>Objective: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lang="en-IN" sz="1300" dirty="0">
                <a:solidFill>
                  <a:srgbClr val="334155"/>
                </a:solidFill>
                <a:latin typeface="Arial"/>
              </a:rPr>
              <a:t>Analysis of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 conventional microstrip patch at </a:t>
            </a:r>
            <a:r>
              <a:rPr lang="en-US" sz="1300" dirty="0">
                <a:solidFill>
                  <a:srgbClr val="334155"/>
                </a:solidFill>
                <a:latin typeface="Arial"/>
              </a:rPr>
              <a:t>5.8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0 GHz resonance to isolate the transition from conduction currents to displacement currents under identical ground and feed conditions.</a:t>
            </a:r>
          </a:p>
        </p:txBody>
      </p:sp>
      <p:pic>
        <p:nvPicPr>
          <p:cNvPr id="92" name="Picture 91" descr="image.png">
            <a:extLst>
              <a:ext uri="{FF2B5EF4-FFF2-40B4-BE49-F238E27FC236}">
                <a16:creationId xmlns:a16="http://schemas.microsoft.com/office/drawing/2014/main" id="{23A4FE1E-9672-0497-A6F1-5FAE23D680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0870" y="2674094"/>
            <a:ext cx="3971164" cy="1660925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53CA926B-4AFF-F034-D33C-BCC11F2D39DD}"/>
              </a:ext>
            </a:extLst>
          </p:cNvPr>
          <p:cNvSpPr txBox="1"/>
          <p:nvPr/>
        </p:nvSpPr>
        <p:spPr>
          <a:xfrm>
            <a:off x="4691512" y="2814282"/>
            <a:ext cx="3635580" cy="43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Stage 2: Alumina &amp; Zirconia</a:t>
            </a:r>
            <a:r>
              <a:rPr lang="en-IN" sz="14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1400" b="1" i="0" u="none" dirty="0">
                <a:solidFill>
                  <a:srgbClr val="0F172A"/>
                </a:solidFill>
                <a:latin typeface="Poppins"/>
              </a:rPr>
              <a:t>Cylindrical DRAs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EEF0B1C-AE48-CA44-3A8B-22DF83E05EE9}"/>
              </a:ext>
            </a:extLst>
          </p:cNvPr>
          <p:cNvSpPr txBox="1"/>
          <p:nvPr/>
        </p:nvSpPr>
        <p:spPr>
          <a:xfrm>
            <a:off x="4672037" y="3460216"/>
            <a:ext cx="3580294" cy="608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300" b="1" i="0" u="none" dirty="0">
                <a:solidFill>
                  <a:srgbClr val="334155"/>
                </a:solidFill>
                <a:latin typeface="Arial"/>
              </a:rPr>
              <a:t>Objective: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lang="en-IN" sz="1300" b="0" i="0" u="none" dirty="0">
                <a:solidFill>
                  <a:srgbClr val="334155"/>
                </a:solidFill>
                <a:latin typeface="Arial"/>
              </a:rPr>
              <a:t>Design 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Alumina (</a:t>
            </a:r>
            <a:r>
              <a:rPr sz="1300" b="0" i="0" u="none" dirty="0" err="1">
                <a:solidFill>
                  <a:srgbClr val="334155"/>
                </a:solidFill>
                <a:latin typeface="Arial"/>
              </a:rPr>
              <a:t>εr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 = 9.8) and Zirconia (εr ≈ 30) </a:t>
            </a:r>
            <a:r>
              <a:rPr lang="en-IN" sz="1300" b="0" i="0" u="none" dirty="0">
                <a:solidFill>
                  <a:srgbClr val="334155"/>
                </a:solidFill>
                <a:latin typeface="Arial"/>
              </a:rPr>
              <a:t>cylindrical DRAs 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and</a:t>
            </a:r>
            <a:r>
              <a:rPr lang="en-IN" sz="1300" b="0" i="0" u="none" dirty="0">
                <a:solidFill>
                  <a:srgbClr val="334155"/>
                </a:solidFill>
                <a:latin typeface="Arial"/>
              </a:rPr>
              <a:t> compare them with the metal patch and with each other</a:t>
            </a:r>
            <a:endParaRPr sz="1300" b="0" i="0" u="none" dirty="0">
              <a:solidFill>
                <a:srgbClr val="334155"/>
              </a:solidFill>
              <a:latin typeface="Arial"/>
            </a:endParaRPr>
          </a:p>
        </p:txBody>
      </p:sp>
      <p:pic>
        <p:nvPicPr>
          <p:cNvPr id="98" name="Picture 97" descr="image.png">
            <a:extLst>
              <a:ext uri="{FF2B5EF4-FFF2-40B4-BE49-F238E27FC236}">
                <a16:creationId xmlns:a16="http://schemas.microsoft.com/office/drawing/2014/main" id="{31DD93E5-0E08-BFD4-3794-57EC869BC4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9129" y="4428020"/>
            <a:ext cx="3971164" cy="1625421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0D7C5C5D-E4F6-0EC6-F918-77BCFBD3DEBF}"/>
              </a:ext>
            </a:extLst>
          </p:cNvPr>
          <p:cNvSpPr txBox="1"/>
          <p:nvPr/>
        </p:nvSpPr>
        <p:spPr>
          <a:xfrm>
            <a:off x="4487182" y="4611703"/>
            <a:ext cx="3839910" cy="1223797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1" i="0" u="none" dirty="0">
                <a:solidFill>
                  <a:srgbClr val="6B21A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Experimental Evaluation Criteria </a:t>
            </a:r>
            <a:endParaRPr lang="en-IN" sz="1400" b="1" i="0" u="none" dirty="0">
              <a:solidFill>
                <a:srgbClr val="6B21A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ts val="1575"/>
              </a:lnSpc>
            </a:pPr>
            <a:r>
              <a:rPr lang="en-IN" sz="1300" dirty="0">
                <a:solidFill>
                  <a:srgbClr val="6B21A8"/>
                </a:solidFill>
                <a:latin typeface="Arial"/>
              </a:rPr>
              <a:t>• </a:t>
            </a:r>
            <a:r>
              <a:rPr sz="1300" i="0" u="none" dirty="0">
                <a:solidFill>
                  <a:srgbClr val="6B21A8"/>
                </a:solidFill>
                <a:latin typeface="Arial"/>
              </a:rPr>
              <a:t>S₁₁ Matching Depth (dB) </a:t>
            </a:r>
            <a:endParaRPr lang="en-IN" sz="1300" i="0" u="none" dirty="0">
              <a:solidFill>
                <a:srgbClr val="6B21A8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sz="1300" i="0" u="none" dirty="0">
                <a:solidFill>
                  <a:srgbClr val="6B21A8"/>
                </a:solidFill>
                <a:latin typeface="Arial"/>
              </a:rPr>
              <a:t>• -10 dB Fractional Bandwidth (%) </a:t>
            </a:r>
            <a:endParaRPr lang="en-IN" sz="1300" i="0" u="none" dirty="0">
              <a:solidFill>
                <a:srgbClr val="6B21A8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sz="1300" i="0" u="none" dirty="0">
                <a:solidFill>
                  <a:srgbClr val="6B21A8"/>
                </a:solidFill>
                <a:latin typeface="Arial"/>
              </a:rPr>
              <a:t>• Realized Peak</a:t>
            </a:r>
            <a:r>
              <a:rPr lang="en-IN" sz="1300" i="0" u="none" dirty="0">
                <a:solidFill>
                  <a:srgbClr val="6B21A8"/>
                </a:solidFill>
                <a:latin typeface="Arial"/>
              </a:rPr>
              <a:t> </a:t>
            </a:r>
            <a:r>
              <a:rPr sz="1300" i="0" u="none" dirty="0">
                <a:solidFill>
                  <a:srgbClr val="6B21A8"/>
                </a:solidFill>
                <a:latin typeface="Arial"/>
              </a:rPr>
              <a:t>Gain (</a:t>
            </a:r>
            <a:r>
              <a:rPr sz="1300" i="0" u="none" dirty="0" err="1">
                <a:solidFill>
                  <a:srgbClr val="6B21A8"/>
                </a:solidFill>
                <a:latin typeface="Arial"/>
              </a:rPr>
              <a:t>dBi</a:t>
            </a:r>
            <a:r>
              <a:rPr sz="1300" i="0" u="none" dirty="0">
                <a:solidFill>
                  <a:srgbClr val="6B21A8"/>
                </a:solidFill>
                <a:latin typeface="Arial"/>
              </a:rPr>
              <a:t>) </a:t>
            </a:r>
            <a:endParaRPr lang="en-IN" sz="1300" i="0" u="none" dirty="0">
              <a:solidFill>
                <a:srgbClr val="6B21A8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sz="1300" i="0" u="none" dirty="0">
                <a:solidFill>
                  <a:srgbClr val="6B21A8"/>
                </a:solidFill>
                <a:latin typeface="Arial"/>
              </a:rPr>
              <a:t>• Radiation Efficiency (%</a:t>
            </a:r>
            <a:r>
              <a:rPr lang="en-IN" sz="1300" dirty="0">
                <a:solidFill>
                  <a:srgbClr val="6B21A8"/>
                </a:solidFill>
                <a:latin typeface="Arial"/>
              </a:rPr>
              <a:t>) </a:t>
            </a:r>
          </a:p>
          <a:p>
            <a:pPr algn="just">
              <a:lnSpc>
                <a:spcPts val="1575"/>
              </a:lnSpc>
            </a:pPr>
            <a:r>
              <a:rPr lang="en-IN" sz="1300" dirty="0">
                <a:solidFill>
                  <a:srgbClr val="6B21A8"/>
                </a:solidFill>
                <a:latin typeface="Arial"/>
              </a:rPr>
              <a:t>•</a:t>
            </a:r>
            <a:r>
              <a:rPr lang="en-IN" sz="1300" i="0" u="none" dirty="0">
                <a:solidFill>
                  <a:srgbClr val="6B21A8"/>
                </a:solidFill>
                <a:latin typeface="Arial"/>
              </a:rPr>
              <a:t> </a:t>
            </a:r>
            <a:r>
              <a:rPr sz="1300" i="0" u="none" dirty="0">
                <a:solidFill>
                  <a:srgbClr val="6B21A8"/>
                </a:solidFill>
                <a:latin typeface="Arial"/>
              </a:rPr>
              <a:t>Volumetric Miniaturization (mm³)</a:t>
            </a:r>
          </a:p>
        </p:txBody>
      </p:sp>
    </p:spTree>
    <p:extLst>
      <p:ext uri="{BB962C8B-B14F-4D97-AF65-F5344CB8AC3E}">
        <p14:creationId xmlns:p14="http://schemas.microsoft.com/office/powerpoint/2010/main" val="215012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BB8F-AF7A-874B-BA7E-A4D73479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A897D-46C9-0606-74A7-31E541B1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2B8F17-CC27-01ED-EB44-CD40EC19EB05}"/>
              </a:ext>
            </a:extLst>
          </p:cNvPr>
          <p:cNvSpPr txBox="1"/>
          <p:nvPr/>
        </p:nvSpPr>
        <p:spPr>
          <a:xfrm>
            <a:off x="562562" y="375035"/>
            <a:ext cx="617220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PATCH: REFERENCE BASELINE DESIGN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FA175D-8953-FD36-305D-D6893840D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731819"/>
              </p:ext>
            </p:extLst>
          </p:nvPr>
        </p:nvGraphicFramePr>
        <p:xfrm>
          <a:off x="381000" y="3325768"/>
          <a:ext cx="4343401" cy="261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1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20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oppins"/>
                        </a:rPr>
                        <a:t>Baseline Specification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Design Notes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15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Target Operating 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5.8</a:t>
                      </a:r>
                      <a:r>
                        <a:rPr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0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ISM Band Center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15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Substrate Material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FR-4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Standard planar RF laminate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157"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Arial"/>
                        </a:rPr>
                        <a:t>Substrate Permittivity (</a:t>
                      </a:r>
                      <a:r>
                        <a:rPr sz="1012" b="0" i="0" u="none" dirty="0" err="1">
                          <a:solidFill>
                            <a:srgbClr val="334155"/>
                          </a:solidFill>
                          <a:latin typeface="Arial"/>
                        </a:rPr>
                        <a:t>εr</a:t>
                      </a:r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4.40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Arial"/>
                        </a:rPr>
                        <a:t>Dielectric carrier 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15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Feeding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Microstrip Inset Feed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Arial"/>
                        </a:rPr>
                        <a:t>50 Ω transmission line matching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435495B-84BD-88BE-F246-90BCFBA0AA12}"/>
              </a:ext>
            </a:extLst>
          </p:cNvPr>
          <p:cNvSpPr txBox="1"/>
          <p:nvPr/>
        </p:nvSpPr>
        <p:spPr>
          <a:xfrm>
            <a:off x="567601" y="1131742"/>
            <a:ext cx="3399838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Baseline Reference Configuration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F47A47-263C-C33D-B258-2E302294EFF7}"/>
              </a:ext>
            </a:extLst>
          </p:cNvPr>
          <p:cNvSpPr txBox="1"/>
          <p:nvPr/>
        </p:nvSpPr>
        <p:spPr>
          <a:xfrm>
            <a:off x="562562" y="1485332"/>
            <a:ext cx="3247438" cy="813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300" b="0" i="0" u="none" dirty="0">
                <a:solidFill>
                  <a:srgbClr val="334155"/>
                </a:solidFill>
                <a:latin typeface="Arial"/>
              </a:rPr>
              <a:t>A planar </a:t>
            </a:r>
            <a:r>
              <a:rPr lang="en-IN" sz="1300" dirty="0">
                <a:solidFill>
                  <a:srgbClr val="334155"/>
                </a:solidFill>
                <a:latin typeface="Arial"/>
              </a:rPr>
              <a:t>circular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 microstrip patch antenna is designed and optimized in Ansys HFSS to establish the conventional baseline at the targeted </a:t>
            </a:r>
            <a:r>
              <a:rPr lang="en-US" sz="1300" dirty="0">
                <a:solidFill>
                  <a:srgbClr val="334155"/>
                </a:solidFill>
                <a:latin typeface="Arial"/>
              </a:rPr>
              <a:t>5.8</a:t>
            </a:r>
            <a:r>
              <a:rPr sz="1300" b="0" i="0" u="none" dirty="0">
                <a:solidFill>
                  <a:srgbClr val="334155"/>
                </a:solidFill>
                <a:latin typeface="Arial"/>
              </a:rPr>
              <a:t>0 GHz ISM operating band.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387D70-5C4B-70E3-5D8A-9EBBCC29FA73}"/>
              </a:ext>
            </a:extLst>
          </p:cNvPr>
          <p:cNvSpPr txBox="1"/>
          <p:nvPr/>
        </p:nvSpPr>
        <p:spPr>
          <a:xfrm>
            <a:off x="562562" y="2410582"/>
            <a:ext cx="3247438" cy="813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300" b="0" i="0" u="none" dirty="0">
                <a:solidFill>
                  <a:srgbClr val="334155"/>
                </a:solidFill>
                <a:latin typeface="Arial"/>
              </a:rPr>
              <a:t>Radiation occurs via fringing electric fields established between the conducting copper patch and ground plane across the dielectric substrate layer.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30E4D-32D6-44C3-3955-5BF386ED6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980340"/>
            <a:ext cx="2873249" cy="22436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6E24E9-739F-3518-3F07-308F2076BE87}"/>
              </a:ext>
            </a:extLst>
          </p:cNvPr>
          <p:cNvSpPr txBox="1"/>
          <p:nvPr/>
        </p:nvSpPr>
        <p:spPr>
          <a:xfrm>
            <a:off x="5486400" y="3429000"/>
            <a:ext cx="2819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0" u="none" dirty="0">
                <a:solidFill>
                  <a:srgbClr val="0F172A"/>
                </a:solidFill>
                <a:latin typeface="Poppins"/>
              </a:rPr>
              <a:t>THE HFSS SIMULATION MODEL</a:t>
            </a:r>
            <a:endParaRPr lang="en-IN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E5BA30-23E8-9591-91FA-E7EAAC7F63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675221"/>
            <a:ext cx="3247438" cy="1812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16A72D-E00E-6096-F8E8-FE418400EB18}"/>
              </a:ext>
            </a:extLst>
          </p:cNvPr>
          <p:cNvSpPr txBox="1"/>
          <p:nvPr/>
        </p:nvSpPr>
        <p:spPr>
          <a:xfrm>
            <a:off x="4724401" y="5470445"/>
            <a:ext cx="34419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rgbClr val="0F172A"/>
                </a:solidFill>
                <a:latin typeface="Poppins"/>
              </a:rPr>
              <a:t>             DIMENSIONED VIEWS OF CIRCULAR MSA (MM)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184644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C206-0B02-6380-A93F-DD003330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37361-A506-40B9-BC63-EC5DFD49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285614-BF02-C465-8C47-CFE581EA22D1}"/>
              </a:ext>
            </a:extLst>
          </p:cNvPr>
          <p:cNvSpPr txBox="1"/>
          <p:nvPr/>
        </p:nvSpPr>
        <p:spPr>
          <a:xfrm>
            <a:off x="566420" y="411034"/>
            <a:ext cx="802466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2400" b="1" dirty="0">
                <a:solidFill>
                  <a:srgbClr val="0F172A"/>
                </a:solidFill>
                <a:latin typeface="Poppins"/>
              </a:rPr>
              <a:t>ALUMINA CDRA: MATERIAL &amp; GEOMETRIC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FF8C74-7FA7-BC79-67BF-075A3BF8882E}"/>
              </a:ext>
            </a:extLst>
          </p:cNvPr>
          <p:cNvSpPr/>
          <p:nvPr/>
        </p:nvSpPr>
        <p:spPr>
          <a:xfrm>
            <a:off x="552916" y="838200"/>
            <a:ext cx="8133883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29E84-885E-617E-527A-E12F5AE8300A}"/>
              </a:ext>
            </a:extLst>
          </p:cNvPr>
          <p:cNvSpPr txBox="1"/>
          <p:nvPr/>
        </p:nvSpPr>
        <p:spPr>
          <a:xfrm>
            <a:off x="581025" y="1020203"/>
            <a:ext cx="3390424" cy="211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Why Alumina (Al₂O₃)?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12C44-184E-CCF7-8566-12EAB5A20771}"/>
              </a:ext>
            </a:extLst>
          </p:cNvPr>
          <p:cNvSpPr txBox="1"/>
          <p:nvPr/>
        </p:nvSpPr>
        <p:spPr>
          <a:xfrm>
            <a:off x="581026" y="1275754"/>
            <a:ext cx="3762374" cy="1018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Arial"/>
              </a:rPr>
              <a:t>Alumina has a relative permittivity of εr = 9.8, about 2.2× the FR-4 baseline (εr = 4.4). Because guided wavelength scales as λg ∝ 1/√εr, the radiator shrinks and radiation occurs via displacement currents.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B3597-1AB8-392E-61FA-33FB00145840}"/>
              </a:ext>
            </a:extLst>
          </p:cNvPr>
          <p:cNvSpPr txBox="1"/>
          <p:nvPr/>
        </p:nvSpPr>
        <p:spPr>
          <a:xfrm>
            <a:off x="552916" y="2455389"/>
            <a:ext cx="3390424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21"/>
              </a:lnSpc>
            </a:pPr>
            <a:r>
              <a:rPr lang="en-IN" sz="1400" b="1" dirty="0">
                <a:solidFill>
                  <a:srgbClr val="0F172A"/>
                </a:solidFill>
                <a:latin typeface="Poppins"/>
              </a:rPr>
              <a:t>Cylindrical DRA (CDRA) Geometry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127CD-FA50-A977-B27B-4697EAA3C9AD}"/>
              </a:ext>
            </a:extLst>
          </p:cNvPr>
          <p:cNvSpPr txBox="1"/>
          <p:nvPr/>
        </p:nvSpPr>
        <p:spPr>
          <a:xfrm>
            <a:off x="552916" y="2682209"/>
            <a:ext cx="3790484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lang="en-IN" sz="1400" dirty="0">
                <a:solidFill>
                  <a:srgbClr val="334155"/>
                </a:solidFill>
                <a:latin typeface="Arial"/>
              </a:rPr>
              <a:t>A plain cylindrical resonator is excited with the help of a microstrip fees. The simple geometry is easy to fabricate and gives predictable resonance, forming the DRA baseline before any shape tuning.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7B6B48-D0A5-1014-518B-03A80C266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225397"/>
              </p:ext>
            </p:extLst>
          </p:nvPr>
        </p:nvGraphicFramePr>
        <p:xfrm>
          <a:off x="552916" y="3820881"/>
          <a:ext cx="3638084" cy="1992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3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034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0F172A"/>
                          </a:solidFill>
                          <a:latin typeface="Poppins"/>
                        </a:rPr>
                        <a:t>Design 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Alumina CDRA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71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Relative Permittivity (εr)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9.8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71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Dielectric Loss Tangent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12" b="1" i="0" u="none" dirty="0">
                          <a:solidFill>
                            <a:srgbClr val="334155"/>
                          </a:solidFill>
                          <a:latin typeface="+mn-lt"/>
                        </a:rPr>
                        <a:t>0</a:t>
                      </a:r>
                      <a:r>
                        <a:rPr lang="en-IN" sz="1012" b="1" i="0" u="none" dirty="0">
                          <a:solidFill>
                            <a:srgbClr val="334155"/>
                          </a:solidFill>
                          <a:latin typeface="+mn-lt"/>
                        </a:rPr>
                        <a:t>.001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191"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334155"/>
                          </a:solidFill>
                          <a:latin typeface="Arial"/>
                        </a:rPr>
                        <a:t>Target Resonant 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5.8</a:t>
                      </a:r>
                      <a:r>
                        <a:rPr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0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445A5F6-C8AC-556E-032C-F304C497C674}"/>
              </a:ext>
            </a:extLst>
          </p:cNvPr>
          <p:cNvSpPr txBox="1"/>
          <p:nvPr/>
        </p:nvSpPr>
        <p:spPr>
          <a:xfrm>
            <a:off x="5649390" y="3515425"/>
            <a:ext cx="2819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0" u="none" dirty="0">
                <a:solidFill>
                  <a:srgbClr val="0F172A"/>
                </a:solidFill>
                <a:latin typeface="Poppins"/>
              </a:rPr>
              <a:t>THE HFSS SIMULATION MODEL</a:t>
            </a:r>
            <a:endParaRPr lang="en-IN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21895F-6D01-5500-4468-D17F04B99F25}"/>
              </a:ext>
            </a:extLst>
          </p:cNvPr>
          <p:cNvSpPr txBox="1"/>
          <p:nvPr/>
        </p:nvSpPr>
        <p:spPr>
          <a:xfrm>
            <a:off x="4601612" y="5813048"/>
            <a:ext cx="3730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rgbClr val="0F172A"/>
                </a:solidFill>
                <a:latin typeface="Poppins"/>
              </a:rPr>
              <a:t>             DIMENSIONED VIEWS OF THE ALUMINA CDRA (MM)</a:t>
            </a:r>
          </a:p>
          <a:p>
            <a:endParaRPr lang="en-IN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4CCFBC-43A8-F421-ACD3-EE1DC503A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857" y="1191497"/>
            <a:ext cx="4039720" cy="22057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1F5C70-4193-8A13-D4C5-E796F09F8E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578" y="3820881"/>
            <a:ext cx="4191000" cy="176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88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1895-E717-CA15-69CC-071F8635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2BFC6-1782-C4C6-A2FA-37CEFC59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445E91-4F81-09C7-24EF-6A42865B0746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vs ALUMINA CDRA: S11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81400" y="58521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417C12-7F30-CE51-210A-8EE4446CFD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850" y="943084"/>
            <a:ext cx="5650300" cy="2044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6E0C0-964D-E64E-2A42-588A1D04D5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069" y="3588796"/>
            <a:ext cx="5650301" cy="20817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6A6979-CBF5-FD16-F58E-27123019F87B}"/>
              </a:ext>
            </a:extLst>
          </p:cNvPr>
          <p:cNvSpPr txBox="1"/>
          <p:nvPr/>
        </p:nvSpPr>
        <p:spPr>
          <a:xfrm>
            <a:off x="3581400" y="315090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Metal Patch (FR-4, 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4.4)</a:t>
            </a:r>
          </a:p>
        </p:txBody>
      </p:sp>
    </p:spTree>
    <p:extLst>
      <p:ext uri="{BB962C8B-B14F-4D97-AF65-F5344CB8AC3E}">
        <p14:creationId xmlns:p14="http://schemas.microsoft.com/office/powerpoint/2010/main" val="754935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E11A-E0A5-50CB-0A85-97A3397E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F4940-831A-52DE-4467-0312E807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35CFB49-A546-8FDC-072D-D129A29D3638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vs ALUMINA CDRA: VSWR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7CAD0A-8AB2-98DB-BF79-66AF17EDEED3}"/>
              </a:ext>
            </a:extLst>
          </p:cNvPr>
          <p:cNvSpPr txBox="1"/>
          <p:nvPr/>
        </p:nvSpPr>
        <p:spPr>
          <a:xfrm>
            <a:off x="3581400" y="58521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E66DB-AEAF-F059-B1F5-FE141A28F331}"/>
              </a:ext>
            </a:extLst>
          </p:cNvPr>
          <p:cNvSpPr txBox="1"/>
          <p:nvPr/>
        </p:nvSpPr>
        <p:spPr>
          <a:xfrm>
            <a:off x="3581400" y="315090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Metal Patch (FR-4, 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4.4)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C6B48-54DA-B3B4-FC71-097C0BB3AD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25" y="3352800"/>
            <a:ext cx="6378950" cy="2300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7CA60A-3401-156A-D4F1-5D835902FB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66026"/>
            <a:ext cx="60960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4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1E1E-2F90-0FFB-A041-492250EC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4E2F0-4900-043A-A052-CEF37B6E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A2ECEC-326A-0A04-1404-27FB8AB7B429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vs ALUMINA CDRA: GAIN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AF5E21-539A-68F1-B7BE-3479BAF6C6B9}"/>
              </a:ext>
            </a:extLst>
          </p:cNvPr>
          <p:cNvSpPr txBox="1"/>
          <p:nvPr/>
        </p:nvSpPr>
        <p:spPr>
          <a:xfrm>
            <a:off x="3581400" y="298795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Poppins"/>
              </a:rPr>
              <a:t>Metal Patch (FR-4, εr = 4.4)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7DBD81-2FEA-EF5B-DF89-3F38372287D1}"/>
              </a:ext>
            </a:extLst>
          </p:cNvPr>
          <p:cNvSpPr txBox="1"/>
          <p:nvPr/>
        </p:nvSpPr>
        <p:spPr>
          <a:xfrm>
            <a:off x="3581400" y="5548571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8B5EE-4E2C-B811-42EC-24ED80C117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11" y="928153"/>
            <a:ext cx="6080189" cy="1932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DD260C-5BE8-4641-666A-5627781844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3262279"/>
            <a:ext cx="6324601" cy="218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92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B0190-B62A-334C-A079-1EC95C51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D22BF-5EE5-1B9F-2147-F9807A9D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D239EF-E46A-EED2-3C81-5ABA1DA8273E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vs ALUMINA CDRA: RADIATION EFFICIENCY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333746-6E79-14AA-DCD2-56E783128798}"/>
              </a:ext>
            </a:extLst>
          </p:cNvPr>
          <p:cNvSpPr txBox="1"/>
          <p:nvPr/>
        </p:nvSpPr>
        <p:spPr>
          <a:xfrm>
            <a:off x="4681220" y="6243638"/>
            <a:ext cx="4114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900" dirty="0">
                <a:solidFill>
                  <a:srgbClr val="64748B"/>
                </a:solidFill>
                <a:latin typeface="JetBrains Mono"/>
              </a:rPr>
              <a:t>Q1: Metal Patch vs Alumina CDRA at 2.40 GHz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333475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Metal Patch (FR-4, 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4.4)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29000" y="578777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E749A-95DE-A74A-F80F-AFA1545BC2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14289"/>
            <a:ext cx="6516643" cy="2329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91A6F0-2673-62BE-3CC1-7B11CB637E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485" y="3535521"/>
            <a:ext cx="6342071" cy="221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9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9C5F9-144A-1E93-0C1D-D505DD661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D27F2-30F3-AC41-025D-94D9BA23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EF705F1-8480-8955-002C-169548135FBE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vs ALUMINA CDRA: DIRECTIVITY(3D)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559" y="5672138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Metal Patch (FR-4, 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= 4.4)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81356" y="5568791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867F9B-BB6E-97AF-B028-890D8C0B14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92" y="1431130"/>
            <a:ext cx="3881438" cy="3995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6C352A-0D27-FA71-90F5-8294171C3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669" y="1434005"/>
            <a:ext cx="3705131" cy="359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43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8563-053B-B009-A5AE-50952728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E61BB-A951-68C2-C5B1-4CEF4C09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373DA3-6847-10A5-5A78-2AF791EE540C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vs ALUMINA CDRA: DIRECTIVITY(2D)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5DCE2F-7708-B14E-806B-365A02E318EB}"/>
              </a:ext>
            </a:extLst>
          </p:cNvPr>
          <p:cNvSpPr txBox="1"/>
          <p:nvPr/>
        </p:nvSpPr>
        <p:spPr>
          <a:xfrm>
            <a:off x="484559" y="5672138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Metal Patch (FR-4, 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= 4.4)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28A399-6D69-C92B-443F-AAB3D5BB746C}"/>
              </a:ext>
            </a:extLst>
          </p:cNvPr>
          <p:cNvSpPr txBox="1"/>
          <p:nvPr/>
        </p:nvSpPr>
        <p:spPr>
          <a:xfrm>
            <a:off x="4881356" y="5568791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CD86FD-94B1-2CA7-4479-BFE65658A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35" y="1541637"/>
            <a:ext cx="4501486" cy="32226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CD9C02-5AF5-C42D-048C-2DE07574DD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323" y="1541636"/>
            <a:ext cx="4059509" cy="325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98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BB8F-AF7A-874B-BA7E-A4D73479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A897D-46C9-0606-74A7-31E541B1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2B8F17-CC27-01ED-EB44-CD40EC19EB05}"/>
              </a:ext>
            </a:extLst>
          </p:cNvPr>
          <p:cNvSpPr txBox="1"/>
          <p:nvPr/>
        </p:nvSpPr>
        <p:spPr>
          <a:xfrm>
            <a:off x="562562" y="375035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METAL vs ALUMINA CDRA: SUMMARY TABLE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494167"/>
              </p:ext>
            </p:extLst>
          </p:nvPr>
        </p:nvGraphicFramePr>
        <p:xfrm>
          <a:off x="297180" y="1371600"/>
          <a:ext cx="8549640" cy="4322968"/>
        </p:xfrm>
        <a:graphic>
          <a:graphicData uri="http://schemas.openxmlformats.org/drawingml/2006/table">
            <a:tbl>
              <a:tblPr/>
              <a:tblGrid>
                <a:gridCol w="284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37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Poppins"/>
                        </a:rPr>
                        <a:t>Parameter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F172A"/>
                          </a:solidFill>
                          <a:latin typeface="Poppins"/>
                        </a:rPr>
                        <a:t>Metal Patch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Poppins"/>
                        </a:rPr>
                        <a:t>Alumina CDRA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7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Arial"/>
                        </a:rPr>
                        <a:t>Radiation mechanism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334155"/>
                          </a:solidFill>
                          <a:latin typeface="Arial"/>
                        </a:rPr>
                        <a:t>Conduction currents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Arial"/>
                        </a:rPr>
                        <a:t>Displacement currents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7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Arial"/>
                        </a:rPr>
                        <a:t>Radiator material (εr)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334155"/>
                          </a:solidFill>
                          <a:latin typeface="Arial"/>
                        </a:rPr>
                        <a:t>Copper on FR-4 (4.40)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Arial"/>
                        </a:rPr>
                        <a:t>Alumina (9.8)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371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4155"/>
                          </a:solidFill>
                          <a:latin typeface="Arial"/>
                        </a:rPr>
                        <a:t>Resonant frequency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/>
                        </a:rPr>
                        <a:t>5.826</a:t>
                      </a:r>
                      <a:r>
                        <a:rPr sz="1200" b="1" dirty="0">
                          <a:solidFill>
                            <a:srgbClr val="334155"/>
                          </a:solidFill>
                          <a:latin typeface="Arial"/>
                        </a:rPr>
                        <a:t> GHz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5.76 GHz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371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4155"/>
                          </a:solidFill>
                          <a:latin typeface="Arial"/>
                        </a:rPr>
                        <a:t>S₁₁ at resonance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-15.95 dB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-25.07 dB</a:t>
                      </a:r>
                      <a:endParaRPr lang="en-IN" sz="1200" b="1" dirty="0">
                        <a:solidFill>
                          <a:srgbClr val="B45309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371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Arial"/>
                        </a:rPr>
                        <a:t>VSWR</a:t>
                      </a:r>
                      <a:endParaRPr sz="1200" b="0" dirty="0">
                        <a:solidFill>
                          <a:srgbClr val="334155"/>
                        </a:solidFill>
                        <a:latin typeface="Arial"/>
                      </a:endParaRP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1.5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1.2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993912"/>
                  </a:ext>
                </a:extLst>
              </a:tr>
              <a:tr h="540371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4155"/>
                          </a:solidFill>
                          <a:latin typeface="Arial"/>
                        </a:rPr>
                        <a:t>Peak realized gain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3.80 dB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5.40 dB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371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Arial"/>
                        </a:rPr>
                        <a:t>Radiation Efficiency</a:t>
                      </a:r>
                      <a:endParaRPr sz="1200" b="0" dirty="0">
                        <a:solidFill>
                          <a:srgbClr val="334155"/>
                        </a:solidFill>
                        <a:latin typeface="Arial"/>
                      </a:endParaRP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60%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72%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16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440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C206-0B02-6380-A93F-DD003330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37361-A506-40B9-BC63-EC5DFD49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285614-BF02-C465-8C47-CFE581EA22D1}"/>
              </a:ext>
            </a:extLst>
          </p:cNvPr>
          <p:cNvSpPr txBox="1"/>
          <p:nvPr/>
        </p:nvSpPr>
        <p:spPr>
          <a:xfrm>
            <a:off x="566420" y="411034"/>
            <a:ext cx="802466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2400" b="1" dirty="0">
                <a:solidFill>
                  <a:srgbClr val="0F172A"/>
                </a:solidFill>
                <a:latin typeface="Poppins"/>
              </a:rPr>
              <a:t>ZIRCONIA CDRA: MATERIAL &amp; GEOMETRIC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FF8C74-7FA7-BC79-67BF-075A3BF8882E}"/>
              </a:ext>
            </a:extLst>
          </p:cNvPr>
          <p:cNvSpPr/>
          <p:nvPr/>
        </p:nvSpPr>
        <p:spPr>
          <a:xfrm>
            <a:off x="552916" y="838200"/>
            <a:ext cx="8133883" cy="4571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29E84-885E-617E-527A-E12F5AE8300A}"/>
              </a:ext>
            </a:extLst>
          </p:cNvPr>
          <p:cNvSpPr txBox="1"/>
          <p:nvPr/>
        </p:nvSpPr>
        <p:spPr>
          <a:xfrm>
            <a:off x="581025" y="1020203"/>
            <a:ext cx="3390424" cy="2116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Why Zirconia (ZrO₂)?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12C44-184E-CCF7-8566-12EAB5A20771}"/>
              </a:ext>
            </a:extLst>
          </p:cNvPr>
          <p:cNvSpPr txBox="1"/>
          <p:nvPr/>
        </p:nvSpPr>
        <p:spPr>
          <a:xfrm>
            <a:off x="581026" y="1275754"/>
            <a:ext cx="3762374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Arial"/>
              </a:rPr>
              <a:t>Zirconia has a relative permittivity of εr ≈ </a:t>
            </a:r>
            <a:r>
              <a:rPr lang="en-US" sz="1400" dirty="0">
                <a:solidFill>
                  <a:srgbClr val="334155"/>
                </a:solidFill>
                <a:latin typeface="Arial"/>
              </a:rPr>
              <a:t>23</a:t>
            </a:r>
            <a:r>
              <a:rPr sz="1400" b="0" i="0" u="none" dirty="0">
                <a:solidFill>
                  <a:srgbClr val="334155"/>
                </a:solidFill>
                <a:latin typeface="Arial"/>
              </a:rPr>
              <a:t>, about 3.06× that of Alumina (εr = 9.8). Since λg ∝ 1/√εr, the linear size can shrink </a:t>
            </a:r>
            <a:r>
              <a:rPr lang="en-US" sz="1400" dirty="0">
                <a:solidFill>
                  <a:srgbClr val="334155"/>
                </a:solidFill>
                <a:latin typeface="Arial"/>
              </a:rPr>
              <a:t>at</a:t>
            </a:r>
            <a:r>
              <a:rPr sz="1400" b="0" i="0" u="none" dirty="0">
                <a:solidFill>
                  <a:srgbClr val="334155"/>
                </a:solidFill>
                <a:latin typeface="Arial"/>
              </a:rPr>
              <a:t> 1.75× at </a:t>
            </a:r>
            <a:r>
              <a:rPr lang="en-US" sz="1400" dirty="0">
                <a:solidFill>
                  <a:srgbClr val="334155"/>
                </a:solidFill>
                <a:latin typeface="Arial"/>
              </a:rPr>
              <a:t>5.80 GHz</a:t>
            </a:r>
            <a:r>
              <a:rPr sz="1400" b="0" i="0" u="none" dirty="0">
                <a:solidFill>
                  <a:srgbClr val="334155"/>
                </a:solidFill>
                <a:latin typeface="Arial"/>
              </a:rPr>
              <a:t> enabling strong volumetric miniaturization.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B3597-1AB8-392E-61FA-33FB00145840}"/>
              </a:ext>
            </a:extLst>
          </p:cNvPr>
          <p:cNvSpPr txBox="1"/>
          <p:nvPr/>
        </p:nvSpPr>
        <p:spPr>
          <a:xfrm>
            <a:off x="552916" y="2455389"/>
            <a:ext cx="3390424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721"/>
              </a:lnSpc>
            </a:pPr>
            <a:r>
              <a:rPr lang="en-IN" sz="1400" b="1" dirty="0">
                <a:solidFill>
                  <a:srgbClr val="0F172A"/>
                </a:solidFill>
                <a:latin typeface="Poppins"/>
              </a:rPr>
              <a:t>Same CDRA Geometry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127CD-FA50-A977-B27B-4697EAA3C9AD}"/>
              </a:ext>
            </a:extLst>
          </p:cNvPr>
          <p:cNvSpPr txBox="1"/>
          <p:nvPr/>
        </p:nvSpPr>
        <p:spPr>
          <a:xfrm>
            <a:off x="552916" y="2682209"/>
            <a:ext cx="379048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75"/>
              </a:lnSpc>
            </a:pPr>
            <a:r>
              <a:rPr lang="en-IN" sz="1400" dirty="0">
                <a:solidFill>
                  <a:srgbClr val="334155"/>
                </a:solidFill>
                <a:latin typeface="Arial"/>
              </a:rPr>
              <a:t>The Zirconia CDRA keeps the cylindrical geometry of the Alumina CDRA, so only the material changes. Higher permittivity is expected to shrink the resonator but narrow the impedance bandwidth (size-bandwidth trade-off).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7B6B48-D0A5-1014-518B-03A80C266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689639"/>
              </p:ext>
            </p:extLst>
          </p:nvPr>
        </p:nvGraphicFramePr>
        <p:xfrm>
          <a:off x="552916" y="4144808"/>
          <a:ext cx="3257084" cy="172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1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0F172A"/>
                          </a:solidFill>
                          <a:latin typeface="Poppins"/>
                        </a:rPr>
                        <a:t>Design 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0F172A"/>
                          </a:solidFill>
                          <a:latin typeface="Poppins"/>
                        </a:rPr>
                        <a:t>Zirconia CDRA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04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Relative Permittivity (εr)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≈23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204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Dielectric Loss Tangent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04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Geometric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6.2mm x 10mm</a:t>
                      </a:r>
                      <a:endParaRPr sz="1012" b="1" i="0" u="none" dirty="0">
                        <a:solidFill>
                          <a:srgbClr val="334155"/>
                        </a:solidFill>
                        <a:latin typeface="Arial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207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Arial"/>
                        </a:rPr>
                        <a:t>Target Resonant 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5.8</a:t>
                      </a:r>
                      <a:r>
                        <a:rPr sz="1012" b="1" i="0" u="none" dirty="0">
                          <a:solidFill>
                            <a:srgbClr val="334155"/>
                          </a:solidFill>
                          <a:latin typeface="Arial"/>
                        </a:rPr>
                        <a:t>0 GHz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445A5F6-C8AC-556E-032C-F304C497C674}"/>
              </a:ext>
            </a:extLst>
          </p:cNvPr>
          <p:cNvSpPr txBox="1"/>
          <p:nvPr/>
        </p:nvSpPr>
        <p:spPr>
          <a:xfrm>
            <a:off x="5649390" y="3515425"/>
            <a:ext cx="2819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i="0" u="none" dirty="0">
                <a:solidFill>
                  <a:srgbClr val="0F172A"/>
                </a:solidFill>
                <a:latin typeface="Poppins"/>
              </a:rPr>
              <a:t>THE HFSS SIMULATION MODEL</a:t>
            </a:r>
            <a:endParaRPr lang="en-IN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21895F-6D01-5500-4468-D17F04B99F25}"/>
              </a:ext>
            </a:extLst>
          </p:cNvPr>
          <p:cNvSpPr txBox="1"/>
          <p:nvPr/>
        </p:nvSpPr>
        <p:spPr>
          <a:xfrm>
            <a:off x="4601612" y="5813048"/>
            <a:ext cx="3874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rgbClr val="0F172A"/>
                </a:solidFill>
                <a:latin typeface="Poppins"/>
              </a:rPr>
              <a:t>                 DIMENSIONED VIEWS OF THE ZIRCONIA CDRA (MM)</a:t>
            </a:r>
          </a:p>
          <a:p>
            <a:endParaRPr lang="en-IN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E92D2-16FE-7475-3A75-6A5D8AF38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2" y="1195098"/>
            <a:ext cx="3700463" cy="20498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83E360-EFC6-5B67-E9C4-7601DA7247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65" y="3860707"/>
            <a:ext cx="3429000" cy="17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88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1895-E717-CA15-69CC-071F8635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2BFC6-1782-C4C6-A2FA-37CEFC59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445E91-4F81-09C7-24EF-6A42865B0746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ALUMINA vs ZIRCONIA CDRA: S11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2445" y="290952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13097" y="5667494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Zirconia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≈ </a:t>
            </a:r>
            <a:r>
              <a:rPr lang="en-US" sz="1200" b="1" dirty="0">
                <a:solidFill>
                  <a:srgbClr val="0F172A"/>
                </a:solidFill>
                <a:latin typeface="Poppins"/>
              </a:rPr>
              <a:t>23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1F04B-AC26-DE31-23C9-CA454F995F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276600"/>
            <a:ext cx="7086600" cy="22569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D87F9A-6259-D8A0-2D96-6FA67E360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760807"/>
            <a:ext cx="7086600" cy="208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35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76294-E53E-67DD-BA03-62F6DA6F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E2F8-0D4E-77EF-CCA4-8E56FA1A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DCFE49-9DD5-404A-CEA1-6B880C88E60A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ALUMINA vs ZIRCONIA CDRA: VSWR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8778F1-FB8A-C2F1-7F6E-C84BF103CADE}"/>
              </a:ext>
            </a:extLst>
          </p:cNvPr>
          <p:cNvSpPr txBox="1"/>
          <p:nvPr/>
        </p:nvSpPr>
        <p:spPr>
          <a:xfrm>
            <a:off x="3749040" y="32918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8C45D7-E98C-EB16-80BD-77DAB4C3D7DA}"/>
              </a:ext>
            </a:extLst>
          </p:cNvPr>
          <p:cNvSpPr txBox="1"/>
          <p:nvPr/>
        </p:nvSpPr>
        <p:spPr>
          <a:xfrm>
            <a:off x="3749040" y="5945198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Zirconia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≈ </a:t>
            </a:r>
            <a:r>
              <a:rPr lang="en-US" sz="1200" b="1" dirty="0">
                <a:solidFill>
                  <a:srgbClr val="0F172A"/>
                </a:solidFill>
                <a:latin typeface="Poppins"/>
              </a:rPr>
              <a:t>23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F1FD0-637D-D83A-67A2-84F5C3C2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39" y="961638"/>
            <a:ext cx="6378950" cy="2300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A3D3E0-D303-C366-2E7B-EA0873A33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239" y="3566664"/>
            <a:ext cx="6388179" cy="232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69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1895-E717-CA15-69CC-071F8635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2BFC6-1782-C4C6-A2FA-37CEFC59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445E91-4F81-09C7-24EF-6A42865B0746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ALUMINA vs ZIRCONIA CDRA: GAIN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33818" y="314461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0" y="5664619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Zirconia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≈ </a:t>
            </a:r>
            <a:r>
              <a:rPr lang="en-US" sz="1200" b="1" dirty="0">
                <a:solidFill>
                  <a:srgbClr val="0F172A"/>
                </a:solidFill>
                <a:latin typeface="Poppins"/>
              </a:rPr>
              <a:t>23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F6E97B-DF28-4DC1-A1C0-F2AF44068D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90433"/>
            <a:ext cx="6629399" cy="2184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E0CA0B-45F3-EFA5-4123-C50B225CE6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099" y="3369366"/>
            <a:ext cx="6553200" cy="228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35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BCBFD-40AD-8B78-2CDF-82B5119B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1F28A-8760-ACE5-3DB4-47DE7C95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006BB0-4F2C-D2B7-91DD-7945BAEFA2C7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ALUMINA vs ZIRCONIA CDRA: RADIATION EFFICIENCY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F02D3C-6EA8-94A8-2FAB-B4D6D403324B}"/>
              </a:ext>
            </a:extLst>
          </p:cNvPr>
          <p:cNvSpPr txBox="1"/>
          <p:nvPr/>
        </p:nvSpPr>
        <p:spPr>
          <a:xfrm>
            <a:off x="3833818" y="314461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FBFDE0-F18A-94F2-AE88-83F9D233BB32}"/>
              </a:ext>
            </a:extLst>
          </p:cNvPr>
          <p:cNvSpPr txBox="1"/>
          <p:nvPr/>
        </p:nvSpPr>
        <p:spPr>
          <a:xfrm>
            <a:off x="3657600" y="5664619"/>
            <a:ext cx="49377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dirty="0">
                <a:solidFill>
                  <a:srgbClr val="0F172A"/>
                </a:solidFill>
                <a:latin typeface="Poppins"/>
              </a:rPr>
              <a:t>Zirconia CDRA (</a:t>
            </a:r>
            <a:r>
              <a:rPr sz="12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 ≈ </a:t>
            </a:r>
            <a:r>
              <a:rPr lang="en-US" sz="1200" b="1" dirty="0">
                <a:solidFill>
                  <a:srgbClr val="0F172A"/>
                </a:solidFill>
                <a:latin typeface="Poppins"/>
              </a:rPr>
              <a:t>23</a:t>
            </a:r>
            <a:r>
              <a:rPr sz="1200" b="1" dirty="0">
                <a:solidFill>
                  <a:srgbClr val="0F172A"/>
                </a:solidFill>
                <a:latin typeface="Poppins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AAA41F-6F87-61AF-603A-EF50AE587F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12" y="3393091"/>
            <a:ext cx="6477000" cy="22629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30E761-7E3E-42CC-2D58-5E8ACBE024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418" y="811488"/>
            <a:ext cx="6489997" cy="233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69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1895-E717-CA15-69CC-071F8635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2BFC6-1782-C4C6-A2FA-37CEFC59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445E91-4F81-09C7-24EF-6A42865B0746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ALUMINA vs ZIRCONIA CDRA: DIRECTIVITY(3D)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0632" y="548640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53000" y="5436681"/>
            <a:ext cx="39776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Zirconia CDRA (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≈ </a:t>
            </a:r>
            <a:r>
              <a:rPr lang="en-US" sz="1400" b="1" dirty="0">
                <a:solidFill>
                  <a:srgbClr val="0F172A"/>
                </a:solidFill>
                <a:latin typeface="Poppins"/>
              </a:rPr>
              <a:t>23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628EE6-093A-F447-F12D-8DF0D2D64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057400"/>
            <a:ext cx="4061936" cy="30032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5747F7-7858-068A-1BD6-0B23CA4A3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08" y="1491505"/>
            <a:ext cx="3705131" cy="359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35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8AE5B-70AF-E1E0-892A-3ECED141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E010A-9FC8-8A87-EBBC-B44D2F62B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0BAB72-303D-EDFA-7BEE-85501B666B4E}"/>
              </a:ext>
            </a:extLst>
          </p:cNvPr>
          <p:cNvSpPr txBox="1"/>
          <p:nvPr/>
        </p:nvSpPr>
        <p:spPr>
          <a:xfrm>
            <a:off x="560632" y="361647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ALUMINA vs ZIRCONIA CDRA: DIRECTIVITY(2D)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518EAE-0B49-5B3C-4C85-90E0DE189A94}"/>
              </a:ext>
            </a:extLst>
          </p:cNvPr>
          <p:cNvSpPr txBox="1"/>
          <p:nvPr/>
        </p:nvSpPr>
        <p:spPr>
          <a:xfrm>
            <a:off x="560632" y="548640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Alumina CDRA (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= 9.8)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4A3F4C-F6E2-9EF2-C6FC-294618C0552B}"/>
              </a:ext>
            </a:extLst>
          </p:cNvPr>
          <p:cNvSpPr txBox="1"/>
          <p:nvPr/>
        </p:nvSpPr>
        <p:spPr>
          <a:xfrm>
            <a:off x="4953000" y="5436681"/>
            <a:ext cx="39776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dirty="0">
                <a:solidFill>
                  <a:srgbClr val="0F172A"/>
                </a:solidFill>
                <a:latin typeface="Poppins"/>
              </a:rPr>
              <a:t>Zirconia CDRA (</a:t>
            </a:r>
            <a:r>
              <a:rPr sz="1400" b="1" dirty="0" err="1">
                <a:solidFill>
                  <a:srgbClr val="0F172A"/>
                </a:solidFill>
                <a:latin typeface="Poppins"/>
              </a:rPr>
              <a:t>εr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 ≈ </a:t>
            </a:r>
            <a:r>
              <a:rPr lang="en-US" sz="1400" b="1" dirty="0">
                <a:solidFill>
                  <a:srgbClr val="0F172A"/>
                </a:solidFill>
                <a:latin typeface="Poppins"/>
              </a:rPr>
              <a:t>23</a:t>
            </a:r>
            <a:r>
              <a:rPr sz="1400" b="1" dirty="0">
                <a:solidFill>
                  <a:srgbClr val="0F172A"/>
                </a:solidFill>
                <a:latin typeface="Poppins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A1434-0420-7102-005F-6FB9604F0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99518"/>
            <a:ext cx="4059509" cy="325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003862-7E43-360F-DF41-EA5C484BB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712" y="2166668"/>
            <a:ext cx="4301872" cy="289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62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BB8F-AF7A-874B-BA7E-A4D73479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A897D-46C9-0606-74A7-31E541B1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2B8F17-CC27-01ED-EB44-CD40EC19EB05}"/>
              </a:ext>
            </a:extLst>
          </p:cNvPr>
          <p:cNvSpPr txBox="1"/>
          <p:nvPr/>
        </p:nvSpPr>
        <p:spPr>
          <a:xfrm>
            <a:off x="562562" y="375035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ALUMINA vs ZIRCONIA CDRA: SUMMARY TABLE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274316"/>
              </p:ext>
            </p:extLst>
          </p:nvPr>
        </p:nvGraphicFramePr>
        <p:xfrm>
          <a:off x="212042" y="1336560"/>
          <a:ext cx="8839200" cy="4184880"/>
        </p:xfrm>
        <a:graphic>
          <a:graphicData uri="http://schemas.openxmlformats.org/drawingml/2006/table">
            <a:tbl>
              <a:tblPr/>
              <a:tblGrid>
                <a:gridCol w="307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8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Poppins"/>
                        </a:rPr>
                        <a:t>Parameter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Poppins"/>
                        </a:rPr>
                        <a:t>Alumina CDRA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  <a:latin typeface="Poppins"/>
                        </a:rPr>
                        <a:t>Zirconia CDRA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8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Arial"/>
                        </a:rPr>
                        <a:t>Relative permittivity (εr)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334155"/>
                          </a:solidFill>
                          <a:latin typeface="Arial"/>
                        </a:rPr>
                        <a:t>9.8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334155"/>
                          </a:solidFill>
                          <a:latin typeface="Arial"/>
                        </a:rPr>
                        <a:t>≈</a:t>
                      </a: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Arial"/>
                        </a:rPr>
                        <a:t>23</a:t>
                      </a:r>
                      <a:endParaRPr sz="1200" b="1" dirty="0">
                        <a:solidFill>
                          <a:srgbClr val="334155"/>
                        </a:solidFill>
                        <a:latin typeface="Arial"/>
                      </a:endParaRP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84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4155"/>
                          </a:solidFill>
                          <a:latin typeface="Arial"/>
                        </a:rPr>
                        <a:t>Resonant frequency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5.76GHz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5.76GHz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84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4155"/>
                          </a:solidFill>
                          <a:latin typeface="Arial"/>
                        </a:rPr>
                        <a:t>S₁₁ at resonance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-25.07 dB</a:t>
                      </a:r>
                      <a:endParaRPr lang="en-IN" sz="1200" b="1" dirty="0">
                        <a:solidFill>
                          <a:srgbClr val="B45309"/>
                        </a:solidFill>
                        <a:latin typeface="+mn-lt"/>
                      </a:endParaRP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-</a:t>
                      </a:r>
                      <a:r>
                        <a:rPr lang="en-IN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50.25dB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84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334155"/>
                          </a:solidFill>
                          <a:latin typeface="Arial"/>
                        </a:rPr>
                        <a:t>VSWR</a:t>
                      </a:r>
                      <a:endParaRPr sz="1200" b="0" dirty="0">
                        <a:solidFill>
                          <a:srgbClr val="334155"/>
                        </a:solidFill>
                        <a:latin typeface="Arial"/>
                      </a:endParaRP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1.2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0.1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348099"/>
                  </a:ext>
                </a:extLst>
              </a:tr>
              <a:tr h="59784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4155"/>
                          </a:solidFill>
                          <a:latin typeface="Arial"/>
                        </a:rPr>
                        <a:t>Peak realized gain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5.40 dB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7.75 dB</a:t>
                      </a:r>
                    </a:p>
                  </a:txBody>
                  <a:tcPr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2E8F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78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Arial"/>
                        </a:rPr>
                        <a:t>Radiation efficiency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72%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+mn-lt"/>
                        </a:rPr>
                        <a:t>88%</a:t>
                      </a:r>
                    </a:p>
                  </a:txBody>
                  <a:tcPr marT="25400" marB="25400" anchor="ctr">
                    <a:lnL w="9525">
                      <a:solidFill>
                        <a:srgbClr val="E2E8F0"/>
                      </a:solidFill>
                    </a:lnL>
                    <a:lnR w="9525">
                      <a:solidFill>
                        <a:srgbClr val="E2E8F0"/>
                      </a:solidFill>
                    </a:lnR>
                    <a:lnT w="9525">
                      <a:solidFill>
                        <a:srgbClr val="E2E8F0"/>
                      </a:solidFill>
                    </a:lnT>
                    <a:lnB w="9525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440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B2BF-FCD4-89EE-9DED-F50A80D3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29BDD-684E-A925-A59B-3A064C49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7254BC-D139-4C71-595C-E4C0F0904AC3}"/>
              </a:ext>
            </a:extLst>
          </p:cNvPr>
          <p:cNvSpPr txBox="1"/>
          <p:nvPr/>
        </p:nvSpPr>
        <p:spPr>
          <a:xfrm>
            <a:off x="562562" y="375035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200" b="1" dirty="0">
                <a:solidFill>
                  <a:srgbClr val="0F172A"/>
                </a:solidFill>
                <a:latin typeface="Poppins"/>
              </a:rPr>
              <a:t>ZIRCONIA CDRA : PRACTICAL OUTPUTS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8C5E9-AB8A-07B7-57E7-075130AD98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835425"/>
            <a:ext cx="5715000" cy="20440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134E9D-EE74-E8D8-38B6-3CD7DC657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352800"/>
            <a:ext cx="5943600" cy="243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CE9FFD-82B4-0017-533B-2608AA1CE604}"/>
              </a:ext>
            </a:extLst>
          </p:cNvPr>
          <p:cNvSpPr txBox="1"/>
          <p:nvPr/>
        </p:nvSpPr>
        <p:spPr>
          <a:xfrm>
            <a:off x="2133600" y="297084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172A"/>
                </a:solidFill>
                <a:latin typeface="Poppins"/>
              </a:rPr>
              <a:t>S</a:t>
            </a:r>
            <a:r>
              <a:rPr lang="en-IN" sz="1400" b="1" dirty="0">
                <a:solidFill>
                  <a:srgbClr val="0F172A"/>
                </a:solidFill>
                <a:latin typeface="Poppins"/>
              </a:rPr>
              <a:t>11 and VSWR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6DB14-F949-1504-03CE-FF49ED9A1C4D}"/>
              </a:ext>
            </a:extLst>
          </p:cNvPr>
          <p:cNvSpPr txBox="1"/>
          <p:nvPr/>
        </p:nvSpPr>
        <p:spPr>
          <a:xfrm>
            <a:off x="2019300" y="57912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F172A"/>
                </a:solidFill>
                <a:latin typeface="Poppins"/>
              </a:rPr>
              <a:t>Z</a:t>
            </a:r>
            <a:r>
              <a:rPr lang="en-IN" sz="1400" b="1" dirty="0" err="1">
                <a:solidFill>
                  <a:srgbClr val="0F172A"/>
                </a:solidFill>
                <a:latin typeface="Poppins"/>
              </a:rPr>
              <a:t>irconia</a:t>
            </a:r>
            <a:r>
              <a:rPr lang="en-IN" sz="1400" b="1" dirty="0">
                <a:solidFill>
                  <a:srgbClr val="0F172A"/>
                </a:solidFill>
                <a:latin typeface="Poppins"/>
              </a:rPr>
              <a:t> CDRA S11 checking on VNA</a:t>
            </a:r>
          </a:p>
        </p:txBody>
      </p:sp>
    </p:spTree>
    <p:extLst>
      <p:ext uri="{BB962C8B-B14F-4D97-AF65-F5344CB8AC3E}">
        <p14:creationId xmlns:p14="http://schemas.microsoft.com/office/powerpoint/2010/main" val="3617693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CB09-AB1A-BD34-CFE2-9392FBE4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80BF1-E20C-BD62-4A79-78D1ACBC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6FA48C-4EF7-922C-F636-D13A244B3414}"/>
              </a:ext>
            </a:extLst>
          </p:cNvPr>
          <p:cNvSpPr txBox="1"/>
          <p:nvPr/>
        </p:nvSpPr>
        <p:spPr>
          <a:xfrm>
            <a:off x="494076" y="360447"/>
            <a:ext cx="802466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400" b="1" dirty="0">
                <a:solidFill>
                  <a:srgbClr val="0F172A"/>
                </a:solidFill>
                <a:latin typeface="Poppins"/>
              </a:rPr>
              <a:t>CONCLUSION &amp; FUTURE RESEARCH SCOPE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69EA030E-2272-3BA9-B347-E5AA329DF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71" y="5509301"/>
            <a:ext cx="8335548" cy="665086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55C4FF14-9862-99B8-5D02-4A8A5664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59" y="1066799"/>
            <a:ext cx="4040505" cy="4343401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FB9D38A8-92E7-2FE2-EF58-B19A8FB3B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275" y="1055403"/>
            <a:ext cx="4087744" cy="43547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519E54-98CC-38EB-61F9-0A0C3CBD0647}"/>
              </a:ext>
            </a:extLst>
          </p:cNvPr>
          <p:cNvSpPr txBox="1"/>
          <p:nvPr/>
        </p:nvSpPr>
        <p:spPr>
          <a:xfrm>
            <a:off x="326018" y="5558727"/>
            <a:ext cx="8360781" cy="395878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sz="1087" b="1" i="1" u="none" dirty="0">
                <a:solidFill>
                  <a:srgbClr val="0369A1"/>
                </a:solidFill>
                <a:latin typeface="Arial"/>
              </a:rPr>
              <a:t>"The study demonstrates that both the choice of radiating structure (dielectric vs. metal) and the selection of dielectric material (Zirconia vs. Alumina) play vital roles in achieving ultra-compact and highly efficient wireless antenna performance."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833316-FD74-4A0B-983E-8FE90D6575F8}"/>
              </a:ext>
            </a:extLst>
          </p:cNvPr>
          <p:cNvSpPr txBox="1"/>
          <p:nvPr/>
        </p:nvSpPr>
        <p:spPr>
          <a:xfrm>
            <a:off x="712479" y="1177851"/>
            <a:ext cx="3286125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Sequential Research Conclusions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44EAD-581D-4F0E-73D4-26C9390B342A}"/>
              </a:ext>
            </a:extLst>
          </p:cNvPr>
          <p:cNvSpPr txBox="1"/>
          <p:nvPr/>
        </p:nvSpPr>
        <p:spPr>
          <a:xfrm>
            <a:off x="4989907" y="1207552"/>
            <a:ext cx="5224090" cy="218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sz="1400" b="1" i="0" u="none" dirty="0">
                <a:solidFill>
                  <a:srgbClr val="0F172A"/>
                </a:solidFill>
                <a:latin typeface="Poppins"/>
              </a:rPr>
              <a:t>Future Scope &amp; Research Trajectory</a:t>
            </a:r>
          </a:p>
        </p:txBody>
      </p:sp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3D2C9C40-FB04-7BA3-4362-EA9172CC470E}"/>
              </a:ext>
            </a:extLst>
          </p:cNvPr>
          <p:cNvSpPr/>
          <p:nvPr/>
        </p:nvSpPr>
        <p:spPr>
          <a:xfrm>
            <a:off x="712479" y="1524977"/>
            <a:ext cx="3624263" cy="1155811"/>
          </a:xfrm>
          <a:prstGeom prst="roundRect">
            <a:avLst>
              <a:gd name="adj" fmla="val 7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4E214E-8942-1AA6-5994-9E11E83E45F5}"/>
              </a:ext>
            </a:extLst>
          </p:cNvPr>
          <p:cNvSpPr txBox="1"/>
          <p:nvPr/>
        </p:nvSpPr>
        <p:spPr>
          <a:xfrm>
            <a:off x="957419" y="1648901"/>
            <a:ext cx="328676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68"/>
              </a:lnSpc>
            </a:pPr>
            <a:r>
              <a:rPr lang="en-IN" sz="1400" b="1" dirty="0">
                <a:solidFill>
                  <a:srgbClr val="0F172A"/>
                </a:solidFill>
                <a:latin typeface="Arial"/>
              </a:rPr>
              <a:t>Analysis of </a:t>
            </a:r>
            <a:r>
              <a:rPr sz="1400" b="1" i="0" u="none" dirty="0">
                <a:solidFill>
                  <a:srgbClr val="0F172A"/>
                </a:solidFill>
                <a:latin typeface="Arial"/>
              </a:rPr>
              <a:t>Metal Patch:</a:t>
            </a:r>
            <a:r>
              <a:rPr sz="1400" b="0" i="0" u="none" dirty="0">
                <a:solidFill>
                  <a:srgbClr val="334155"/>
                </a:solidFill>
                <a:latin typeface="Arial"/>
              </a:rPr>
              <a:t> </a:t>
            </a:r>
            <a:r>
              <a:rPr lang="en-IN" sz="1400" b="0" i="0" u="none" dirty="0">
                <a:solidFill>
                  <a:srgbClr val="334155"/>
                </a:solidFill>
                <a:latin typeface="Arial"/>
              </a:rPr>
              <a:t>Analysis of circular metallic patch antenna, it was 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observed that S11 occurred at </a:t>
            </a:r>
            <a:r>
              <a:rPr lang="en-IN" sz="1400" b="1" dirty="0">
                <a:solidFill>
                  <a:srgbClr val="334155"/>
                </a:solidFill>
                <a:latin typeface="Arial"/>
              </a:rPr>
              <a:t>2.4GHz 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at</a:t>
            </a:r>
            <a:r>
              <a:rPr lang="en-IN" sz="1400" b="1" dirty="0">
                <a:solidFill>
                  <a:srgbClr val="334155"/>
                </a:solidFill>
                <a:latin typeface="Arial"/>
              </a:rPr>
              <a:t> -11.76dB 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with a gain of</a:t>
            </a:r>
            <a:r>
              <a:rPr lang="en-IN" sz="1400" b="1" dirty="0">
                <a:solidFill>
                  <a:srgbClr val="334155"/>
                </a:solidFill>
                <a:latin typeface="Arial"/>
              </a:rPr>
              <a:t>  </a:t>
            </a:r>
            <a:r>
              <a:rPr sz="1400" b="1" i="0" u="none" dirty="0">
                <a:solidFill>
                  <a:srgbClr val="0F172A"/>
                </a:solidFill>
                <a:latin typeface="Arial"/>
              </a:rPr>
              <a:t>+</a:t>
            </a:r>
            <a:r>
              <a:rPr lang="en-IN" sz="1400" b="1" i="0" u="none" dirty="0">
                <a:solidFill>
                  <a:srgbClr val="0F172A"/>
                </a:solidFill>
                <a:latin typeface="Arial"/>
              </a:rPr>
              <a:t>2.5</a:t>
            </a:r>
            <a:r>
              <a:rPr sz="1400" b="1" i="0" u="none" dirty="0">
                <a:solidFill>
                  <a:srgbClr val="0F172A"/>
                </a:solidFill>
                <a:latin typeface="Arial"/>
              </a:rPr>
              <a:t> dB</a:t>
            </a:r>
            <a:endParaRPr sz="1400" b="1" i="0" u="none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34" name="Rounded Rectangle 20">
            <a:extLst>
              <a:ext uri="{FF2B5EF4-FFF2-40B4-BE49-F238E27FC236}">
                <a16:creationId xmlns:a16="http://schemas.microsoft.com/office/drawing/2014/main" id="{BA0FE314-9956-3F4C-4211-E2B2ADF6A5F2}"/>
              </a:ext>
            </a:extLst>
          </p:cNvPr>
          <p:cNvSpPr/>
          <p:nvPr/>
        </p:nvSpPr>
        <p:spPr>
          <a:xfrm>
            <a:off x="4989907" y="1534363"/>
            <a:ext cx="3696893" cy="727052"/>
          </a:xfrm>
          <a:prstGeom prst="roundRect">
            <a:avLst>
              <a:gd name="adj" fmla="val 105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9730E8-4FA5-F1F7-71DA-F5306A19CF60}"/>
              </a:ext>
            </a:extLst>
          </p:cNvPr>
          <p:cNvSpPr txBox="1"/>
          <p:nvPr/>
        </p:nvSpPr>
        <p:spPr>
          <a:xfrm>
            <a:off x="5117293" y="1620952"/>
            <a:ext cx="3482234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just">
              <a:lnSpc>
                <a:spcPts val="1468"/>
              </a:lnSpc>
              <a:buFont typeface="Arial" panose="020B0604020202020204" pitchFamily="34" charset="0"/>
              <a:buChar char="•"/>
            </a:pPr>
            <a:r>
              <a:rPr sz="1400" b="1" i="0" u="none" dirty="0">
                <a:solidFill>
                  <a:srgbClr val="0F172A"/>
                </a:solidFill>
                <a:latin typeface="Arial"/>
              </a:rPr>
              <a:t>Fabrication &amp; Anechoic Validation:</a:t>
            </a:r>
            <a:r>
              <a:rPr sz="1400" b="0" i="0" u="none" dirty="0">
                <a:solidFill>
                  <a:srgbClr val="334155"/>
                </a:solidFill>
                <a:latin typeface="Arial"/>
              </a:rPr>
              <a:t> CNC milling, sintering and anechoic-chamber testing of the ceramic CDRAs.</a:t>
            </a:r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060C74EE-11C9-7F81-E6BC-93DFE421A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66" y="1688125"/>
            <a:ext cx="104775" cy="123825"/>
          </a:xfrm>
          <a:prstGeom prst="rect">
            <a:avLst/>
          </a:prstGeom>
        </p:spPr>
      </p:pic>
      <p:sp>
        <p:nvSpPr>
          <p:cNvPr id="56" name="Rounded Rectangle 14">
            <a:extLst>
              <a:ext uri="{FF2B5EF4-FFF2-40B4-BE49-F238E27FC236}">
                <a16:creationId xmlns:a16="http://schemas.microsoft.com/office/drawing/2014/main" id="{BE6586A3-D69B-F6E6-4EEE-A689919EF61A}"/>
              </a:ext>
            </a:extLst>
          </p:cNvPr>
          <p:cNvSpPr/>
          <p:nvPr/>
        </p:nvSpPr>
        <p:spPr>
          <a:xfrm>
            <a:off x="712479" y="2859840"/>
            <a:ext cx="3624263" cy="1155811"/>
          </a:xfrm>
          <a:prstGeom prst="roundRect">
            <a:avLst>
              <a:gd name="adj" fmla="val 7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6D4C75-2962-75C6-78A8-5680ED4511B0}"/>
              </a:ext>
            </a:extLst>
          </p:cNvPr>
          <p:cNvSpPr txBox="1"/>
          <p:nvPr/>
        </p:nvSpPr>
        <p:spPr>
          <a:xfrm>
            <a:off x="957419" y="2906638"/>
            <a:ext cx="3157381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IN" sz="1400" b="1" dirty="0">
                <a:latin typeface="Arial"/>
              </a:rPr>
              <a:t>Alumina CDRA vs Metal Patch:</a:t>
            </a:r>
            <a:r>
              <a:rPr lang="en-IN" sz="1400" dirty="0">
                <a:latin typeface="Arial"/>
              </a:rPr>
              <a:t> Displacement currents replace ohmic conduction loss; the S₁₁, gain and efficiency change is quantified in Q1.</a:t>
            </a:r>
            <a:endParaRPr lang="en-IN" sz="1400" dirty="0">
              <a:solidFill>
                <a:srgbClr val="334155"/>
              </a:solidFill>
              <a:latin typeface="Arial"/>
            </a:endParaRPr>
          </a:p>
        </p:txBody>
      </p:sp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8F06026B-FCFA-3B86-0B9E-E2CF69BD3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66" y="3011228"/>
            <a:ext cx="104775" cy="123825"/>
          </a:xfrm>
          <a:prstGeom prst="rect">
            <a:avLst/>
          </a:prstGeom>
        </p:spPr>
      </p:pic>
      <p:sp>
        <p:nvSpPr>
          <p:cNvPr id="64" name="Rounded Rectangle 14">
            <a:extLst>
              <a:ext uri="{FF2B5EF4-FFF2-40B4-BE49-F238E27FC236}">
                <a16:creationId xmlns:a16="http://schemas.microsoft.com/office/drawing/2014/main" id="{2CC7EF32-6948-2596-0B06-AF2AA9AE2D75}"/>
              </a:ext>
            </a:extLst>
          </p:cNvPr>
          <p:cNvSpPr/>
          <p:nvPr/>
        </p:nvSpPr>
        <p:spPr>
          <a:xfrm>
            <a:off x="712479" y="4143589"/>
            <a:ext cx="3624263" cy="1155811"/>
          </a:xfrm>
          <a:prstGeom prst="roundRect">
            <a:avLst>
              <a:gd name="adj" fmla="val 78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CE7854-2449-321A-E791-94857DD6FBFE}"/>
              </a:ext>
            </a:extLst>
          </p:cNvPr>
          <p:cNvSpPr txBox="1"/>
          <p:nvPr/>
        </p:nvSpPr>
        <p:spPr>
          <a:xfrm>
            <a:off x="957419" y="4267513"/>
            <a:ext cx="328676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468"/>
              </a:lnSpc>
            </a:pPr>
            <a:r>
              <a:rPr lang="en-IN" sz="1400" b="1" dirty="0">
                <a:solidFill>
                  <a:srgbClr val="0F172A"/>
                </a:solidFill>
                <a:latin typeface="Arial"/>
              </a:rPr>
              <a:t>Zirconia vs Alumina CDRA: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 Raising εr from 9.8 to ≈23 cuts linear size to ≈</a:t>
            </a:r>
            <a:r>
              <a:rPr lang="en-IN" sz="1400" b="1" dirty="0">
                <a:solidFill>
                  <a:srgbClr val="0F172A"/>
                </a:solidFill>
                <a:latin typeface="Arial"/>
              </a:rPr>
              <a:t>0.57×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 (theory); simulated gain increases from </a:t>
            </a:r>
            <a:r>
              <a:rPr lang="en-IN" sz="1400" b="1" dirty="0">
                <a:solidFill>
                  <a:srgbClr val="334155"/>
                </a:solidFill>
                <a:latin typeface="Arial"/>
              </a:rPr>
              <a:t>5.4dB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 to </a:t>
            </a:r>
            <a:r>
              <a:rPr lang="en-IN" sz="1400" b="1" dirty="0">
                <a:solidFill>
                  <a:srgbClr val="334155"/>
                </a:solidFill>
                <a:latin typeface="Arial"/>
              </a:rPr>
              <a:t>7.75dB</a:t>
            </a:r>
          </a:p>
        </p:txBody>
      </p:sp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87B3DED3-FBF8-B714-CD9F-3FC5B00BF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766" y="4306737"/>
            <a:ext cx="104775" cy="123825"/>
          </a:xfrm>
          <a:prstGeom prst="rect">
            <a:avLst/>
          </a:prstGeom>
        </p:spPr>
      </p:pic>
      <p:sp>
        <p:nvSpPr>
          <p:cNvPr id="67" name="Rounded Rectangle 20">
            <a:extLst>
              <a:ext uri="{FF2B5EF4-FFF2-40B4-BE49-F238E27FC236}">
                <a16:creationId xmlns:a16="http://schemas.microsoft.com/office/drawing/2014/main" id="{9A5B431E-A3E1-1A4B-66D3-914373997CB4}"/>
              </a:ext>
            </a:extLst>
          </p:cNvPr>
          <p:cNvSpPr/>
          <p:nvPr/>
        </p:nvSpPr>
        <p:spPr>
          <a:xfrm>
            <a:off x="4989907" y="2458160"/>
            <a:ext cx="3696893" cy="797985"/>
          </a:xfrm>
          <a:prstGeom prst="roundRect">
            <a:avLst>
              <a:gd name="adj" fmla="val 105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E08C30-4CC8-815B-B7E3-B28FCFBCFEF6}"/>
              </a:ext>
            </a:extLst>
          </p:cNvPr>
          <p:cNvSpPr txBox="1"/>
          <p:nvPr/>
        </p:nvSpPr>
        <p:spPr>
          <a:xfrm>
            <a:off x="5097236" y="2452554"/>
            <a:ext cx="3482234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ts val="1468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0F172A"/>
                </a:solidFill>
                <a:latin typeface="Arial"/>
              </a:rPr>
              <a:t>Differential Feed Optimization: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 Implementing differential feeding networks to further suppress cross-polarization below -25 dB.</a:t>
            </a:r>
          </a:p>
        </p:txBody>
      </p:sp>
      <p:sp>
        <p:nvSpPr>
          <p:cNvPr id="69" name="Rounded Rectangle 20">
            <a:extLst>
              <a:ext uri="{FF2B5EF4-FFF2-40B4-BE49-F238E27FC236}">
                <a16:creationId xmlns:a16="http://schemas.microsoft.com/office/drawing/2014/main" id="{C9E1F87D-7336-5D63-43D2-711686E50F56}"/>
              </a:ext>
            </a:extLst>
          </p:cNvPr>
          <p:cNvSpPr/>
          <p:nvPr/>
        </p:nvSpPr>
        <p:spPr>
          <a:xfrm>
            <a:off x="4980272" y="3355246"/>
            <a:ext cx="3696893" cy="881323"/>
          </a:xfrm>
          <a:prstGeom prst="roundRect">
            <a:avLst>
              <a:gd name="adj" fmla="val 105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4CCDF4-9BD6-DD3B-0D20-70E8BECD7FD8}"/>
              </a:ext>
            </a:extLst>
          </p:cNvPr>
          <p:cNvSpPr txBox="1"/>
          <p:nvPr/>
        </p:nvSpPr>
        <p:spPr>
          <a:xfrm>
            <a:off x="5077179" y="3444886"/>
            <a:ext cx="3483425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just">
              <a:lnSpc>
                <a:spcPts val="1468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0F172A"/>
                </a:solidFill>
                <a:latin typeface="Arial"/>
              </a:rPr>
              <a:t>AI/ML Surrogate Synthesis: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 Utilizing ANN and XGBoost models to rapidly synthesize geometry parameters without extensive 3D EM sweeps.</a:t>
            </a:r>
          </a:p>
        </p:txBody>
      </p:sp>
      <p:sp>
        <p:nvSpPr>
          <p:cNvPr id="71" name="Rounded Rectangle 20">
            <a:extLst>
              <a:ext uri="{FF2B5EF4-FFF2-40B4-BE49-F238E27FC236}">
                <a16:creationId xmlns:a16="http://schemas.microsoft.com/office/drawing/2014/main" id="{59E9B753-2EBA-0F77-352F-03B574DA5337}"/>
              </a:ext>
            </a:extLst>
          </p:cNvPr>
          <p:cNvSpPr/>
          <p:nvPr/>
        </p:nvSpPr>
        <p:spPr>
          <a:xfrm>
            <a:off x="4952908" y="4406602"/>
            <a:ext cx="3696893" cy="727052"/>
          </a:xfrm>
          <a:prstGeom prst="roundRect">
            <a:avLst>
              <a:gd name="adj" fmla="val 105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28242F-BD48-34B6-D466-89F4C72B6B1C}"/>
              </a:ext>
            </a:extLst>
          </p:cNvPr>
          <p:cNvSpPr txBox="1"/>
          <p:nvPr/>
        </p:nvSpPr>
        <p:spPr>
          <a:xfrm>
            <a:off x="5077179" y="4488689"/>
            <a:ext cx="3483425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just">
              <a:lnSpc>
                <a:spcPts val="1468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rgbClr val="0F172A"/>
                </a:solidFill>
                <a:latin typeface="Arial"/>
              </a:rPr>
              <a:t>Design of Parasitic Element Zirconia DRA:</a:t>
            </a:r>
            <a:r>
              <a:rPr lang="en-IN" sz="1400" dirty="0">
                <a:solidFill>
                  <a:srgbClr val="334155"/>
                </a:solidFill>
                <a:latin typeface="Arial"/>
              </a:rPr>
              <a:t> Adding a ring around the Zirconia CDRA to see any change in behaviour of the antenna</a:t>
            </a:r>
          </a:p>
        </p:txBody>
      </p:sp>
    </p:spTree>
    <p:extLst>
      <p:ext uri="{BB962C8B-B14F-4D97-AF65-F5344CB8AC3E}">
        <p14:creationId xmlns:p14="http://schemas.microsoft.com/office/powerpoint/2010/main" val="249923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23DBB-65A5-0C2F-4543-5EC3AFC18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96696-A53D-DF96-2C93-E81E7159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AE23E-90C3-4CB8-8C6E-E6BA23C892BD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C86321-84AD-1EA0-5161-C8DDE2866B08}"/>
              </a:ext>
            </a:extLst>
          </p:cNvPr>
          <p:cNvSpPr txBox="1"/>
          <p:nvPr/>
        </p:nvSpPr>
        <p:spPr>
          <a:xfrm>
            <a:off x="566420" y="411034"/>
            <a:ext cx="802466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it-IT" sz="2400" b="1" dirty="0">
                <a:solidFill>
                  <a:srgbClr val="0F172A"/>
                </a:solidFill>
                <a:latin typeface="Poppins"/>
              </a:rPr>
              <a:t>REFERENCES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0F5944-B635-14DD-875F-1BEC674117E0}"/>
              </a:ext>
            </a:extLst>
          </p:cNvPr>
          <p:cNvSpPr/>
          <p:nvPr/>
        </p:nvSpPr>
        <p:spPr>
          <a:xfrm>
            <a:off x="552916" y="838200"/>
            <a:ext cx="8228543" cy="5668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764BF5-3C64-1222-4857-EAA1C1D06726}"/>
              </a:ext>
            </a:extLst>
          </p:cNvPr>
          <p:cNvSpPr txBox="1"/>
          <p:nvPr/>
        </p:nvSpPr>
        <p:spPr>
          <a:xfrm>
            <a:off x="536873" y="1024467"/>
            <a:ext cx="80767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[1] M. Mukherjee, S. Chatterjee, and S. Biswas, “Review of dielectric resonator antenna characteristics and applications,” IEEE Access, vol. 8, pp. 123456–123470, 2020.</a:t>
            </a:r>
          </a:p>
          <a:p>
            <a:pPr algn="just">
              <a:lnSpc>
                <a:spcPts val="1575"/>
              </a:lnSpc>
            </a:pPr>
            <a:endParaRPr lang="en-IN" sz="15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[2] S. K. Mishra and R. K. Chaudhary, “Study of dielectric materials for dielectric resonator antennas,” Progress In Electromagnetics Research, vol. 58, pp. 45–52, 2016.</a:t>
            </a:r>
          </a:p>
          <a:p>
            <a:pPr algn="just">
              <a:lnSpc>
                <a:spcPts val="1575"/>
              </a:lnSpc>
            </a:pPr>
            <a:endParaRPr lang="en-IN" sz="15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[3] A. Sharma and D. Gupta, “Design and analysis of rectangular dielectric resonator antenna using HFSS,” International Journal of Electronics and Communication Engineering, vol. 12, no. 4, pp. 210–215, 2018.</a:t>
            </a:r>
          </a:p>
          <a:p>
            <a:pPr algn="just">
              <a:lnSpc>
                <a:spcPts val="1575"/>
              </a:lnSpc>
            </a:pPr>
            <a:endParaRPr lang="en-IN" sz="15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[4] P. Kumar and M. Singh, “Wideband high-gain dielectric resonator antenna using higher-order modes,” IEEE Antennas and Wireless Propagation Letters, vol. 18, no. 6, pp. 1150–1154, 2019.</a:t>
            </a:r>
          </a:p>
          <a:p>
            <a:pPr algn="just">
              <a:lnSpc>
                <a:spcPts val="1575"/>
              </a:lnSpc>
            </a:pPr>
            <a:endParaRPr lang="en-IN" sz="15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[5] R. Verma and S. Tiwari, “Enhanced gain and bandwidth of dielectric resonator antenna using hollow structure,” Microwave and Optical Technology Letters, vol. 62, no. 3, pp. 980–985, 2020.</a:t>
            </a:r>
          </a:p>
          <a:p>
            <a:pPr algn="just">
              <a:lnSpc>
                <a:spcPts val="1575"/>
              </a:lnSpc>
            </a:pPr>
            <a:endParaRPr lang="en-IN" sz="15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[6] N. Patel and V. Shah, “Dielectric ring resonator antenna for </a:t>
            </a:r>
            <a:r>
              <a:rPr lang="en-IN" sz="1150" dirty="0" err="1">
                <a:solidFill>
                  <a:srgbClr val="334155"/>
                </a:solidFill>
                <a:latin typeface="Arial"/>
              </a:rPr>
              <a:t>millimeter</a:t>
            </a:r>
            <a:r>
              <a:rPr lang="en-IN" sz="1150" dirty="0">
                <a:solidFill>
                  <a:srgbClr val="334155"/>
                </a:solidFill>
                <a:latin typeface="Arial"/>
              </a:rPr>
              <a:t>-wave applications,” International Journal of RF and Microwave Computer-Aided Engineering, vol. 30, no. 5, e22145, 2020.</a:t>
            </a:r>
          </a:p>
          <a:p>
            <a:pPr algn="just">
              <a:lnSpc>
                <a:spcPts val="1575"/>
              </a:lnSpc>
            </a:pPr>
            <a:endParaRPr lang="en-IN" sz="15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[7] J. Lee, H. Kim, and S. Park, “Advanced dielectric resonator antennas for 5G and 6G communication systems,” IEEE Transactions on Antennas and Propagation, vol. 72, no. 1, pp. 45–55, 2024.</a:t>
            </a:r>
          </a:p>
          <a:p>
            <a:pPr algn="just">
              <a:lnSpc>
                <a:spcPts val="1575"/>
              </a:lnSpc>
            </a:pPr>
            <a:endParaRPr lang="en-IN" sz="1500" dirty="0">
              <a:solidFill>
                <a:srgbClr val="334155"/>
              </a:solidFill>
              <a:latin typeface="Arial"/>
            </a:endParaRPr>
          </a:p>
          <a:p>
            <a:pPr algn="just">
              <a:lnSpc>
                <a:spcPts val="1575"/>
              </a:lnSpc>
            </a:pPr>
            <a:r>
              <a:rPr lang="en-IN" sz="1150" dirty="0">
                <a:solidFill>
                  <a:srgbClr val="334155"/>
                </a:solidFill>
                <a:latin typeface="Arial"/>
              </a:rPr>
              <a:t>[8] A. Roy, K. Das, and P. Sen, “Machine learning based circularly polarized dielectric resonator antenna for ultra-wideband applications,” Scientific Reports, vol. 15, no. 33605, 2025.</a:t>
            </a:r>
          </a:p>
        </p:txBody>
      </p:sp>
    </p:spTree>
    <p:extLst>
      <p:ext uri="{BB962C8B-B14F-4D97-AF65-F5344CB8AC3E}">
        <p14:creationId xmlns:p14="http://schemas.microsoft.com/office/powerpoint/2010/main" val="2235686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7623175" cy="1752600"/>
          </a:xfrm>
        </p:spPr>
        <p:txBody>
          <a:bodyPr/>
          <a:lstStyle/>
          <a:p>
            <a:pPr algn="ctr"/>
            <a:r>
              <a:rPr lang="en-US" sz="9600" i="1" dirty="0"/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A810C3-8DC2-466C-E502-633FAF2A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CD9A39-5C1A-4CAF-B953-34D46548577A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10674</TotalTime>
  <Words>2269</Words>
  <Application>Microsoft Office PowerPoint</Application>
  <PresentationFormat>On-screen Show (4:3)</PresentationFormat>
  <Paragraphs>270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Garamond</vt:lpstr>
      <vt:lpstr>JetBrains Mono</vt:lpstr>
      <vt:lpstr>Poppins</vt:lpstr>
      <vt:lpstr>Wingdings</vt:lpstr>
      <vt:lpstr>Edge</vt:lpstr>
      <vt:lpstr>Comparative analysis between Alumina vs Zirconia Dielectric Resonator Antenna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.:L4zy w4r3z:.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lab1</dc:creator>
  <cp:lastModifiedBy>Om Shinde</cp:lastModifiedBy>
  <cp:revision>705</cp:revision>
  <cp:lastPrinted>2023-01-19T06:52:39Z</cp:lastPrinted>
  <dcterms:created xsi:type="dcterms:W3CDTF">2000-12-31T19:59:37Z</dcterms:created>
  <dcterms:modified xsi:type="dcterms:W3CDTF">2026-10-06T18:46:51Z</dcterms:modified>
</cp:coreProperties>
</file>